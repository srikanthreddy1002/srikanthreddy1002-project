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303" r:id="rId2"/>
    <p:sldId id="293" r:id="rId3"/>
    <p:sldId id="294" r:id="rId4"/>
    <p:sldId id="312" r:id="rId5"/>
    <p:sldId id="313" r:id="rId6"/>
    <p:sldId id="295" r:id="rId7"/>
    <p:sldId id="314" r:id="rId8"/>
    <p:sldId id="297" r:id="rId9"/>
    <p:sldId id="306" r:id="rId10"/>
    <p:sldId id="305" r:id="rId11"/>
    <p:sldId id="307" r:id="rId12"/>
    <p:sldId id="308" r:id="rId13"/>
    <p:sldId id="299" r:id="rId14"/>
    <p:sldId id="302" r:id="rId15"/>
    <p:sldId id="309" r:id="rId16"/>
    <p:sldId id="311" r:id="rId17"/>
    <p:sldId id="304" r:id="rId18"/>
    <p:sldId id="263" r:id="rId19"/>
  </p:sldIdLst>
  <p:sldSz cx="11430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6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6" autoAdjust="0"/>
    <p:restoredTop sz="94434" autoAdjust="0"/>
  </p:normalViewPr>
  <p:slideViewPr>
    <p:cSldViewPr showGuides="1">
      <p:cViewPr varScale="1">
        <p:scale>
          <a:sx n="82" d="100"/>
          <a:sy n="82" d="100"/>
        </p:scale>
        <p:origin x="902" y="72"/>
      </p:cViewPr>
      <p:guideLst>
        <p:guide orient="horz" pos="2160"/>
        <p:guide pos="360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AF30C-D940-43ED-BE12-A15817012E61}" type="datetimeFigureOut">
              <a:rPr lang="en-IN" smtClean="0"/>
              <a:t>07-05-2026</a:t>
            </a:fld>
            <a:endParaRPr lang="en-IN"/>
          </a:p>
        </p:txBody>
      </p:sp>
      <p:sp>
        <p:nvSpPr>
          <p:cNvPr id="4" name="Slide Image Placeholder 3"/>
          <p:cNvSpPr>
            <a:spLocks noGrp="1" noRot="1" noChangeAspect="1"/>
          </p:cNvSpPr>
          <p:nvPr>
            <p:ph type="sldImg" idx="2"/>
          </p:nvPr>
        </p:nvSpPr>
        <p:spPr>
          <a:xfrm>
            <a:off x="857250" y="1143000"/>
            <a:ext cx="51435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59A9E-EC48-4627-85A4-3C056E305745}"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6B59A9E-EC48-4627-85A4-3C056E305745}"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57250" y="2130427"/>
            <a:ext cx="9715500" cy="1470025"/>
          </a:xfrm>
        </p:spPr>
        <p:txBody>
          <a:bodyPr/>
          <a:lstStyle/>
          <a:p>
            <a:r>
              <a:rPr lang="en-US"/>
              <a:t>Click to edit Master title style</a:t>
            </a:r>
          </a:p>
        </p:txBody>
      </p:sp>
      <p:sp>
        <p:nvSpPr>
          <p:cNvPr id="3" name="Subtitle 2"/>
          <p:cNvSpPr>
            <a:spLocks noGrp="1"/>
          </p:cNvSpPr>
          <p:nvPr>
            <p:ph type="subTitle" idx="1"/>
          </p:nvPr>
        </p:nvSpPr>
        <p:spPr>
          <a:xfrm>
            <a:off x="1714500" y="3886200"/>
            <a:ext cx="80010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571500" y="6356352"/>
            <a:ext cx="2047156" cy="365125"/>
          </a:xfrm>
        </p:spPr>
        <p:txBody>
          <a:bodyPr/>
          <a:lstStyle/>
          <a:p>
            <a:fld id="{FC6D9666-8002-4DDF-9DBF-E589180B0866}" type="datetime1">
              <a:rPr lang="en-US" smtClean="0"/>
              <a:t>5/7/2026</a:t>
            </a:fld>
            <a:endParaRPr lang="en-US" dirty="0"/>
          </a:p>
        </p:txBody>
      </p:sp>
      <p:sp>
        <p:nvSpPr>
          <p:cNvPr id="5" name="Footer Placeholder 4"/>
          <p:cNvSpPr>
            <a:spLocks noGrp="1"/>
          </p:cNvSpPr>
          <p:nvPr>
            <p:ph type="ftr" sz="quarter" idx="11"/>
          </p:nvPr>
        </p:nvSpPr>
        <p:spPr>
          <a:xfrm>
            <a:off x="26723" y="6482294"/>
            <a:ext cx="11415960" cy="365125"/>
          </a:xfrm>
        </p:spPr>
        <p:txBody>
          <a:bodyPr/>
          <a:lstStyle>
            <a:lvl1pPr>
              <a:defRPr sz="1200" i="0">
                <a:solidFill>
                  <a:srgbClr val="0070C0"/>
                </a:solidFill>
              </a:defRPr>
            </a:lvl1pPr>
          </a:lstStyle>
          <a:p>
            <a:r>
              <a:rPr lang="en-US" dirty="0"/>
              <a:t>Vel Tech Rangarajan Dr. Sagunthala R&amp;D Institute of Science and Technology</a:t>
            </a:r>
          </a:p>
        </p:txBody>
      </p:sp>
      <p:sp>
        <p:nvSpPr>
          <p:cNvPr id="6" name="Slide Number Placeholder 5"/>
          <p:cNvSpPr>
            <a:spLocks noGrp="1"/>
          </p:cNvSpPr>
          <p:nvPr>
            <p:ph type="sldNum" sz="quarter" idx="12"/>
          </p:nvPr>
        </p:nvSpPr>
        <p:spPr>
          <a:xfrm>
            <a:off x="10395520" y="6492875"/>
            <a:ext cx="1020440" cy="365125"/>
          </a:xfrm>
        </p:spPr>
        <p:txBody>
          <a:bodyPr/>
          <a:lstStyle>
            <a:lvl1pPr algn="ctr">
              <a:defRPr/>
            </a:lvl1pPr>
          </a:lstStyle>
          <a:p>
            <a:fld id="{8E4F4909-AB91-4702-BFA2-E3C21A7DF79A}" type="slidenum">
              <a:rPr lang="en-US" smtClean="0"/>
              <a:t>‹#›</a:t>
            </a:fld>
            <a:endParaRPr lang="en-US"/>
          </a:p>
        </p:txBody>
      </p:sp>
      <p:sp>
        <p:nvSpPr>
          <p:cNvPr id="7" name="Rectangle 6"/>
          <p:cNvSpPr/>
          <p:nvPr userDrawn="1"/>
        </p:nvSpPr>
        <p:spPr>
          <a:xfrm>
            <a:off x="0" y="0"/>
            <a:ext cx="386408" cy="47667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A36A8A-28AC-48A9-A783-D80394C0CD89}" type="datetime1">
              <a:rPr lang="en-US" smtClean="0"/>
              <a:t>5/7/2026</a:t>
            </a:fld>
            <a:endParaRPr lang="en-US"/>
          </a:p>
        </p:txBody>
      </p:sp>
      <p:sp>
        <p:nvSpPr>
          <p:cNvPr id="5" name="Footer Placeholder 4"/>
          <p:cNvSpPr>
            <a:spLocks noGrp="1"/>
          </p:cNvSpPr>
          <p:nvPr>
            <p:ph type="ftr" sz="quarter" idx="11"/>
          </p:nvPr>
        </p:nvSpPr>
        <p:spPr>
          <a:xfrm>
            <a:off x="0" y="6459716"/>
            <a:ext cx="11430000" cy="365125"/>
          </a:xfrm>
        </p:spPr>
        <p:txBody>
          <a:bodyPr/>
          <a:lstStyle>
            <a:lvl1pPr>
              <a:defRPr lang="en-US" sz="1200" i="0" kern="1200" dirty="0" smtClean="0">
                <a:solidFill>
                  <a:srgbClr val="0070C0"/>
                </a:solidFill>
                <a:latin typeface="+mn-lt"/>
                <a:ea typeface="+mn-ea"/>
                <a:cs typeface="+mn-cs"/>
              </a:defRPr>
            </a:lvl1pPr>
          </a:lstStyle>
          <a:p>
            <a:r>
              <a:rPr lang="en-US" dirty="0"/>
              <a:t>Vel Tech Rangarajan Dr. Sagunthala R&amp;D Institute of Science and Technology</a:t>
            </a:r>
          </a:p>
        </p:txBody>
      </p:sp>
      <p:sp>
        <p:nvSpPr>
          <p:cNvPr id="6" name="Slide Number Placeholder 5"/>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02892" y="4406902"/>
            <a:ext cx="97155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02892" y="2906713"/>
            <a:ext cx="97155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9387C0-6D0B-407E-ACC2-69EF0901DC8B}" type="datetime1">
              <a:rPr lang="en-US" smtClean="0"/>
              <a:t>5/7/2026</a:t>
            </a:fld>
            <a:endParaRPr lang="en-US"/>
          </a:p>
        </p:txBody>
      </p:sp>
      <p:sp>
        <p:nvSpPr>
          <p:cNvPr id="5" name="Footer Placeholder 4"/>
          <p:cNvSpPr>
            <a:spLocks noGrp="1"/>
          </p:cNvSpPr>
          <p:nvPr>
            <p:ph type="ftr" sz="quarter" idx="11"/>
          </p:nvPr>
        </p:nvSpPr>
        <p:spPr/>
        <p:txBody>
          <a:bodyPr/>
          <a:lstStyle/>
          <a:p>
            <a:r>
              <a:rPr lang="en-US"/>
              <a:t>Vel Tech Rangarajan Dr. Sagunthala R&amp;D Institute of Science and Technology</a:t>
            </a:r>
          </a:p>
        </p:txBody>
      </p:sp>
      <p:sp>
        <p:nvSpPr>
          <p:cNvPr id="6" name="Slide Number Placeholder 5"/>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71500" y="1600202"/>
            <a:ext cx="50482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10250" y="1600202"/>
            <a:ext cx="50482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3E5D92-93DD-4273-8376-C5FDA847435E}" type="datetime1">
              <a:rPr lang="en-US" smtClean="0"/>
              <a:t>5/7/2026</a:t>
            </a:fld>
            <a:endParaRPr lang="en-US"/>
          </a:p>
        </p:txBody>
      </p:sp>
      <p:sp>
        <p:nvSpPr>
          <p:cNvPr id="6" name="Footer Placeholder 5"/>
          <p:cNvSpPr>
            <a:spLocks noGrp="1"/>
          </p:cNvSpPr>
          <p:nvPr>
            <p:ph type="ftr" sz="quarter" idx="11"/>
          </p:nvPr>
        </p:nvSpPr>
        <p:spPr/>
        <p:txBody>
          <a:bodyPr/>
          <a:lstStyle/>
          <a:p>
            <a:r>
              <a:rPr lang="en-US"/>
              <a:t>Vel Tech Rangarajan Dr. Sagunthala R&amp;D Institute of Science and Technology</a:t>
            </a:r>
          </a:p>
        </p:txBody>
      </p:sp>
      <p:sp>
        <p:nvSpPr>
          <p:cNvPr id="7" name="Slide Number Placeholder 6"/>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71500" y="1535113"/>
            <a:ext cx="505023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71500" y="2174875"/>
            <a:ext cx="505023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06282" y="1535113"/>
            <a:ext cx="505221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282" y="2174875"/>
            <a:ext cx="505221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641635-ACB1-4001-B587-045CE44306E6}" type="datetime1">
              <a:rPr lang="en-US" smtClean="0"/>
              <a:t>5/7/2026</a:t>
            </a:fld>
            <a:endParaRPr lang="en-US"/>
          </a:p>
        </p:txBody>
      </p:sp>
      <p:sp>
        <p:nvSpPr>
          <p:cNvPr id="8" name="Footer Placeholder 7"/>
          <p:cNvSpPr>
            <a:spLocks noGrp="1"/>
          </p:cNvSpPr>
          <p:nvPr>
            <p:ph type="ftr" sz="quarter" idx="11"/>
          </p:nvPr>
        </p:nvSpPr>
        <p:spPr/>
        <p:txBody>
          <a:bodyPr/>
          <a:lstStyle/>
          <a:p>
            <a:r>
              <a:rPr lang="en-US"/>
              <a:t>Vel Tech Rangarajan Dr. Sagunthala R&amp;D Institute of Science and Technology</a:t>
            </a:r>
          </a:p>
        </p:txBody>
      </p:sp>
      <p:sp>
        <p:nvSpPr>
          <p:cNvPr id="9" name="Slide Number Placeholder 8"/>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0B745A-FC71-49E4-9C4B-F8D7A6CA9DC0}" type="datetime1">
              <a:rPr lang="en-US" smtClean="0"/>
              <a:t>5/7/2026</a:t>
            </a:fld>
            <a:endParaRPr lang="en-US"/>
          </a:p>
        </p:txBody>
      </p:sp>
      <p:sp>
        <p:nvSpPr>
          <p:cNvPr id="4" name="Footer Placeholder 3"/>
          <p:cNvSpPr>
            <a:spLocks noGrp="1"/>
          </p:cNvSpPr>
          <p:nvPr>
            <p:ph type="ftr" sz="quarter" idx="11"/>
          </p:nvPr>
        </p:nvSpPr>
        <p:spPr/>
        <p:txBody>
          <a:bodyPr/>
          <a:lstStyle/>
          <a:p>
            <a:r>
              <a:rPr lang="en-US"/>
              <a:t>Vel Tech Rangarajan Dr. Sagunthala R&amp;D Institute of Science and Technology</a:t>
            </a:r>
          </a:p>
        </p:txBody>
      </p:sp>
      <p:sp>
        <p:nvSpPr>
          <p:cNvPr id="5" name="Slide Number Placeholder 4"/>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210564-5044-4128-99C1-58DB656CE858}" type="datetime1">
              <a:rPr lang="en-US" smtClean="0"/>
              <a:t>5/7/2026</a:t>
            </a:fld>
            <a:endParaRPr lang="en-US"/>
          </a:p>
        </p:txBody>
      </p:sp>
      <p:sp>
        <p:nvSpPr>
          <p:cNvPr id="3" name="Footer Placeholder 2"/>
          <p:cNvSpPr>
            <a:spLocks noGrp="1"/>
          </p:cNvSpPr>
          <p:nvPr>
            <p:ph type="ftr" sz="quarter" idx="11"/>
          </p:nvPr>
        </p:nvSpPr>
        <p:spPr/>
        <p:txBody>
          <a:bodyPr/>
          <a:lstStyle/>
          <a:p>
            <a:r>
              <a:rPr lang="en-US"/>
              <a:t>Vel Tech Rangarajan Dr. Sagunthala R&amp;D Institute of Science and Technology</a:t>
            </a:r>
          </a:p>
        </p:txBody>
      </p:sp>
      <p:sp>
        <p:nvSpPr>
          <p:cNvPr id="4" name="Slide Number Placeholder 3"/>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1501" y="273050"/>
            <a:ext cx="3760392"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468813" y="273052"/>
            <a:ext cx="638968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1501" y="1435102"/>
            <a:ext cx="376039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B9A1D4-1132-46BA-B8E7-618A6E44E328}" type="datetime1">
              <a:rPr lang="en-US" smtClean="0"/>
              <a:t>5/7/2026</a:t>
            </a:fld>
            <a:endParaRPr lang="en-US"/>
          </a:p>
        </p:txBody>
      </p:sp>
      <p:sp>
        <p:nvSpPr>
          <p:cNvPr id="6" name="Footer Placeholder 5"/>
          <p:cNvSpPr>
            <a:spLocks noGrp="1"/>
          </p:cNvSpPr>
          <p:nvPr>
            <p:ph type="ftr" sz="quarter" idx="11"/>
          </p:nvPr>
        </p:nvSpPr>
        <p:spPr/>
        <p:txBody>
          <a:bodyPr/>
          <a:lstStyle/>
          <a:p>
            <a:r>
              <a:rPr lang="en-US"/>
              <a:t>Vel Tech Rangarajan Dr. Sagunthala R&amp;D Institute of Science and Technology</a:t>
            </a:r>
          </a:p>
        </p:txBody>
      </p:sp>
      <p:sp>
        <p:nvSpPr>
          <p:cNvPr id="7" name="Slide Number Placeholder 6"/>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40360" y="4800600"/>
            <a:ext cx="68580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240360" y="612775"/>
            <a:ext cx="68580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40360" y="5367338"/>
            <a:ext cx="68580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F7AEE7-9B98-4E63-87ED-B9B8EC48A022}" type="datetime1">
              <a:rPr lang="en-US" smtClean="0"/>
              <a:t>5/7/2026</a:t>
            </a:fld>
            <a:endParaRPr lang="en-US"/>
          </a:p>
        </p:txBody>
      </p:sp>
      <p:sp>
        <p:nvSpPr>
          <p:cNvPr id="6" name="Footer Placeholder 5"/>
          <p:cNvSpPr>
            <a:spLocks noGrp="1"/>
          </p:cNvSpPr>
          <p:nvPr>
            <p:ph type="ftr" sz="quarter" idx="11"/>
          </p:nvPr>
        </p:nvSpPr>
        <p:spPr/>
        <p:txBody>
          <a:bodyPr/>
          <a:lstStyle/>
          <a:p>
            <a:r>
              <a:rPr lang="en-US"/>
              <a:t>Vel Tech Rangarajan Dr. Sagunthala R&amp;D Institute of Science and Technology</a:t>
            </a:r>
          </a:p>
        </p:txBody>
      </p:sp>
      <p:sp>
        <p:nvSpPr>
          <p:cNvPr id="7" name="Slide Number Placeholder 6"/>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FF9759-3C3C-4F16-AC5A-592055CD8449}" type="datetime1">
              <a:rPr lang="en-US" smtClean="0"/>
              <a:t>5/7/2026</a:t>
            </a:fld>
            <a:endParaRPr lang="en-US"/>
          </a:p>
        </p:txBody>
      </p:sp>
      <p:sp>
        <p:nvSpPr>
          <p:cNvPr id="5" name="Footer Placeholder 4"/>
          <p:cNvSpPr>
            <a:spLocks noGrp="1"/>
          </p:cNvSpPr>
          <p:nvPr>
            <p:ph type="ftr" sz="quarter" idx="11"/>
          </p:nvPr>
        </p:nvSpPr>
        <p:spPr/>
        <p:txBody>
          <a:bodyPr/>
          <a:lstStyle/>
          <a:p>
            <a:r>
              <a:rPr lang="en-US"/>
              <a:t>Vel Tech Rangarajan Dr. Sagunthala R&amp;D Institute of Science and Technology</a:t>
            </a:r>
          </a:p>
        </p:txBody>
      </p:sp>
      <p:sp>
        <p:nvSpPr>
          <p:cNvPr id="6" name="Slide Number Placeholder 5"/>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86750" y="274640"/>
            <a:ext cx="25717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71500" y="274640"/>
            <a:ext cx="75247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3F05C8-5BDD-4591-97DF-4AD51350787B}" type="datetime1">
              <a:rPr lang="en-US" smtClean="0"/>
              <a:t>5/7/2026</a:t>
            </a:fld>
            <a:endParaRPr lang="en-US"/>
          </a:p>
        </p:txBody>
      </p:sp>
      <p:sp>
        <p:nvSpPr>
          <p:cNvPr id="5" name="Footer Placeholder 4"/>
          <p:cNvSpPr>
            <a:spLocks noGrp="1"/>
          </p:cNvSpPr>
          <p:nvPr>
            <p:ph type="ftr" sz="quarter" idx="11"/>
          </p:nvPr>
        </p:nvSpPr>
        <p:spPr/>
        <p:txBody>
          <a:bodyPr/>
          <a:lstStyle/>
          <a:p>
            <a:r>
              <a:rPr lang="en-US"/>
              <a:t>Vel Tech Rangarajan Dr. Sagunthala R&amp;D Institute of Science and Technology</a:t>
            </a:r>
          </a:p>
        </p:txBody>
      </p:sp>
      <p:sp>
        <p:nvSpPr>
          <p:cNvPr id="6" name="Slide Number Placeholder 5"/>
          <p:cNvSpPr>
            <a:spLocks noGrp="1"/>
          </p:cNvSpPr>
          <p:nvPr>
            <p:ph type="sldNum" sz="quarter" idx="12"/>
          </p:nvPr>
        </p:nvSpPr>
        <p:spPr/>
        <p:txBody>
          <a:bodyPr/>
          <a:lstStyle/>
          <a:p>
            <a:fld id="{8E4F4909-AB91-4702-BFA2-E3C21A7DF79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1500" y="274638"/>
            <a:ext cx="102870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71500" y="1600202"/>
            <a:ext cx="102870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71500" y="6356352"/>
            <a:ext cx="26670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8821EA-C301-46D7-BFCF-D45852A093F6}" type="datetime1">
              <a:rPr lang="en-US" smtClean="0"/>
              <a:t>5/7/2026</a:t>
            </a:fld>
            <a:endParaRPr lang="en-US"/>
          </a:p>
        </p:txBody>
      </p:sp>
      <p:sp>
        <p:nvSpPr>
          <p:cNvPr id="5" name="Footer Placeholder 4"/>
          <p:cNvSpPr>
            <a:spLocks noGrp="1"/>
          </p:cNvSpPr>
          <p:nvPr>
            <p:ph type="ftr" sz="quarter" idx="3"/>
          </p:nvPr>
        </p:nvSpPr>
        <p:spPr>
          <a:xfrm>
            <a:off x="3905250" y="6356352"/>
            <a:ext cx="36195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Vel Tech Rangarajan Dr. Sagunthala R&amp;D Institute of Science and Technology</a:t>
            </a:r>
          </a:p>
        </p:txBody>
      </p:sp>
      <p:sp>
        <p:nvSpPr>
          <p:cNvPr id="6" name="Slide Number Placeholder 5"/>
          <p:cNvSpPr>
            <a:spLocks noGrp="1"/>
          </p:cNvSpPr>
          <p:nvPr>
            <p:ph type="sldNum" sz="quarter" idx="4"/>
          </p:nvPr>
        </p:nvSpPr>
        <p:spPr>
          <a:xfrm>
            <a:off x="8191500" y="6356352"/>
            <a:ext cx="2667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4F4909-AB91-4702-BFA2-E3C21A7DF79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6862" y="173029"/>
            <a:ext cx="11056275" cy="1417824"/>
          </a:xfrm>
          <a:prstGeom prst="rect">
            <a:avLst/>
          </a:prstGeom>
          <a:noFill/>
        </p:spPr>
        <p:txBody>
          <a:bodyPr wrap="square" rtlCol="0">
            <a:spAutoFit/>
          </a:bodyPr>
          <a:lstStyle/>
          <a:p>
            <a:pPr algn="ctr">
              <a:lnSpc>
                <a:spcPct val="150000"/>
              </a:lnSpc>
            </a:pPr>
            <a:r>
              <a:rPr lang="en-US" sz="2000" b="1" dirty="0">
                <a:solidFill>
                  <a:srgbClr val="C00000"/>
                </a:solidFill>
              </a:rPr>
              <a:t>Review</a:t>
            </a:r>
          </a:p>
          <a:p>
            <a:pPr algn="ctr">
              <a:lnSpc>
                <a:spcPct val="150000"/>
              </a:lnSpc>
            </a:pPr>
            <a:r>
              <a:rPr lang="en-US" sz="2000" b="1" dirty="0">
                <a:solidFill>
                  <a:srgbClr val="C00000"/>
                </a:solidFill>
              </a:rPr>
              <a:t>Major Project Winter Semester-2025-26</a:t>
            </a:r>
          </a:p>
          <a:p>
            <a:pPr algn="ctr">
              <a:lnSpc>
                <a:spcPct val="150000"/>
              </a:lnSpc>
            </a:pPr>
            <a:r>
              <a:rPr lang="en-US" sz="2000" b="1" dirty="0">
                <a:solidFill>
                  <a:srgbClr val="C00000"/>
                </a:solidFill>
              </a:rPr>
              <a:t>Department of Electronics and Communication Engineering</a:t>
            </a:r>
          </a:p>
        </p:txBody>
      </p:sp>
      <p:sp>
        <p:nvSpPr>
          <p:cNvPr id="2" name="Slide Number Placeholder 1"/>
          <p:cNvSpPr>
            <a:spLocks noGrp="1"/>
          </p:cNvSpPr>
          <p:nvPr>
            <p:ph type="sldNum" sz="quarter" idx="12"/>
          </p:nvPr>
        </p:nvSpPr>
        <p:spPr/>
        <p:txBody>
          <a:bodyPr/>
          <a:lstStyle/>
          <a:p>
            <a:fld id="{8E4F4909-AB91-4702-BFA2-E3C21A7DF79A}" type="slidenum">
              <a:rPr lang="en-US" smtClean="0"/>
              <a:pPr/>
              <a:t>1</a:t>
            </a:fld>
            <a:endParaRPr lang="en-US" dirty="0"/>
          </a:p>
        </p:txBody>
      </p:sp>
      <p:sp>
        <p:nvSpPr>
          <p:cNvPr id="6" name="Footer Placeholder 5"/>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3" name="TextBox 2">
            <a:extLst>
              <a:ext uri="{FF2B5EF4-FFF2-40B4-BE49-F238E27FC236}">
                <a16:creationId xmlns:a16="http://schemas.microsoft.com/office/drawing/2014/main" id="{0D1758F6-9361-D9C2-6110-61A655A1A2E9}"/>
              </a:ext>
            </a:extLst>
          </p:cNvPr>
          <p:cNvSpPr txBox="1"/>
          <p:nvPr/>
        </p:nvSpPr>
        <p:spPr>
          <a:xfrm>
            <a:off x="1450227" y="1984123"/>
            <a:ext cx="8568952" cy="956159"/>
          </a:xfrm>
          <a:prstGeom prst="rect">
            <a:avLst/>
          </a:prstGeom>
          <a:noFill/>
        </p:spPr>
        <p:txBody>
          <a:bodyPr wrap="square" rtlCol="0">
            <a:spAutoFit/>
          </a:bodyPr>
          <a:lstStyle/>
          <a:p>
            <a:pPr algn="ctr">
              <a:lnSpc>
                <a:spcPct val="150000"/>
              </a:lnSpc>
            </a:pPr>
            <a:r>
              <a:rPr lang="en-US" sz="2000" b="1" dirty="0">
                <a:solidFill>
                  <a:srgbClr val="C00000"/>
                </a:solidFill>
              </a:rPr>
              <a:t>Title: BORDER SECURITY REIMAGINED </a:t>
            </a:r>
            <a:r>
              <a:rPr lang="en-US" sz="2000" b="1">
                <a:solidFill>
                  <a:srgbClr val="C00000"/>
                </a:solidFill>
              </a:rPr>
              <a:t>AI POWER SMART SURVELLENCE </a:t>
            </a:r>
            <a:r>
              <a:rPr lang="en-US" sz="2000" b="1" dirty="0">
                <a:solidFill>
                  <a:srgbClr val="C00000"/>
                </a:solidFill>
              </a:rPr>
              <a:t>AND ALERT SYSTEM WITH IOT </a:t>
            </a:r>
            <a:endParaRPr lang="en-US" b="1" dirty="0">
              <a:solidFill>
                <a:srgbClr val="C00000"/>
              </a:solidFill>
            </a:endParaRPr>
          </a:p>
        </p:txBody>
      </p:sp>
      <p:sp>
        <p:nvSpPr>
          <p:cNvPr id="7" name="TextBox 6">
            <a:extLst>
              <a:ext uri="{FF2B5EF4-FFF2-40B4-BE49-F238E27FC236}">
                <a16:creationId xmlns:a16="http://schemas.microsoft.com/office/drawing/2014/main" id="{B514FB5A-E8BE-1C17-4800-965F1739F9DF}"/>
              </a:ext>
            </a:extLst>
          </p:cNvPr>
          <p:cNvSpPr txBox="1"/>
          <p:nvPr/>
        </p:nvSpPr>
        <p:spPr>
          <a:xfrm>
            <a:off x="3050704" y="3195709"/>
            <a:ext cx="3240361" cy="493853"/>
          </a:xfrm>
          <a:prstGeom prst="rect">
            <a:avLst/>
          </a:prstGeom>
          <a:noFill/>
        </p:spPr>
        <p:txBody>
          <a:bodyPr wrap="square" rtlCol="0">
            <a:spAutoFit/>
          </a:bodyPr>
          <a:lstStyle/>
          <a:p>
            <a:pPr algn="ctr">
              <a:lnSpc>
                <a:spcPct val="150000"/>
              </a:lnSpc>
            </a:pPr>
            <a:r>
              <a:rPr lang="en-US" sz="2000" b="1" dirty="0">
                <a:solidFill>
                  <a:srgbClr val="C00000"/>
                </a:solidFill>
              </a:rPr>
              <a:t>Date:08/05/2026 </a:t>
            </a:r>
          </a:p>
        </p:txBody>
      </p:sp>
      <p:sp>
        <p:nvSpPr>
          <p:cNvPr id="8" name="TextBox 7">
            <a:extLst>
              <a:ext uri="{FF2B5EF4-FFF2-40B4-BE49-F238E27FC236}">
                <a16:creationId xmlns:a16="http://schemas.microsoft.com/office/drawing/2014/main" id="{D1A876FD-3632-54A7-590E-CC8A422B2AFE}"/>
              </a:ext>
            </a:extLst>
          </p:cNvPr>
          <p:cNvSpPr txBox="1"/>
          <p:nvPr/>
        </p:nvSpPr>
        <p:spPr>
          <a:xfrm>
            <a:off x="746448" y="4082832"/>
            <a:ext cx="5184576" cy="1882823"/>
          </a:xfrm>
          <a:prstGeom prst="rect">
            <a:avLst/>
          </a:prstGeom>
          <a:noFill/>
        </p:spPr>
        <p:txBody>
          <a:bodyPr wrap="square" rtlCol="0">
            <a:spAutoFit/>
          </a:bodyPr>
          <a:lstStyle/>
          <a:p>
            <a:pPr>
              <a:lnSpc>
                <a:spcPct val="150000"/>
              </a:lnSpc>
            </a:pPr>
            <a:r>
              <a:rPr lang="en-US" sz="2000" b="1" dirty="0">
                <a:solidFill>
                  <a:srgbClr val="C00000"/>
                </a:solidFill>
              </a:rPr>
              <a:t>Project Team Members</a:t>
            </a:r>
          </a:p>
          <a:p>
            <a:pPr marL="457200" indent="-457200">
              <a:lnSpc>
                <a:spcPct val="150000"/>
              </a:lnSpc>
              <a:buFontTx/>
              <a:buAutoNum type="arabicPeriod"/>
            </a:pPr>
            <a:r>
              <a:rPr lang="en-US" sz="2000" b="1" dirty="0">
                <a:solidFill>
                  <a:srgbClr val="C00000"/>
                </a:solidFill>
                <a:latin typeface="Times New Roman" panose="02020603050405020304" pitchFamily="18" charset="0"/>
                <a:cs typeface="Times New Roman" panose="02020603050405020304" pitchFamily="18" charset="0"/>
              </a:rPr>
              <a:t>VTU23067 (N.DEVA RAJU)</a:t>
            </a:r>
          </a:p>
          <a:p>
            <a:pPr marL="457200" indent="-457200">
              <a:lnSpc>
                <a:spcPct val="150000"/>
              </a:lnSpc>
              <a:buFontTx/>
              <a:buAutoNum type="arabicPeriod"/>
            </a:pPr>
            <a:r>
              <a:rPr lang="en-US" sz="2000" b="1" dirty="0">
                <a:solidFill>
                  <a:srgbClr val="C00000"/>
                </a:solidFill>
                <a:latin typeface="Times New Roman" panose="02020603050405020304" pitchFamily="18" charset="0"/>
                <a:cs typeface="Times New Roman" panose="02020603050405020304" pitchFamily="18" charset="0"/>
              </a:rPr>
              <a:t>VTU23810(CH.PUNEETH BABU)</a:t>
            </a:r>
          </a:p>
          <a:p>
            <a:pPr marL="457200" indent="-457200">
              <a:lnSpc>
                <a:spcPct val="150000"/>
              </a:lnSpc>
              <a:buFontTx/>
              <a:buAutoNum type="arabicPeriod"/>
            </a:pPr>
            <a:r>
              <a:rPr lang="en-US" sz="2000" b="1" dirty="0">
                <a:solidFill>
                  <a:srgbClr val="C00000"/>
                </a:solidFill>
                <a:latin typeface="Times New Roman" panose="02020603050405020304" pitchFamily="18" charset="0"/>
                <a:cs typeface="Times New Roman" panose="02020603050405020304" pitchFamily="18" charset="0"/>
              </a:rPr>
              <a:t>VTU23028(G.SRIKANTH REDDY</a:t>
            </a:r>
            <a:r>
              <a:rPr lang="en-US" sz="2000" b="1" dirty="0">
                <a:solidFill>
                  <a:srgbClr val="C00000"/>
                </a:solidFill>
              </a:rPr>
              <a:t>)</a:t>
            </a:r>
          </a:p>
        </p:txBody>
      </p:sp>
      <p:sp>
        <p:nvSpPr>
          <p:cNvPr id="9" name="TextBox 8">
            <a:extLst>
              <a:ext uri="{FF2B5EF4-FFF2-40B4-BE49-F238E27FC236}">
                <a16:creationId xmlns:a16="http://schemas.microsoft.com/office/drawing/2014/main" id="{B60A3A3E-8139-6098-6536-54DB54C12933}"/>
              </a:ext>
            </a:extLst>
          </p:cNvPr>
          <p:cNvSpPr txBox="1"/>
          <p:nvPr/>
        </p:nvSpPr>
        <p:spPr>
          <a:xfrm>
            <a:off x="6908398" y="4407401"/>
            <a:ext cx="4494879" cy="1325491"/>
          </a:xfrm>
          <a:prstGeom prst="rect">
            <a:avLst/>
          </a:prstGeom>
          <a:noFill/>
        </p:spPr>
        <p:txBody>
          <a:bodyPr wrap="square" rtlCol="0">
            <a:spAutoFit/>
          </a:bodyPr>
          <a:lstStyle/>
          <a:p>
            <a:pPr algn="ctr">
              <a:lnSpc>
                <a:spcPct val="150000"/>
              </a:lnSpc>
            </a:pPr>
            <a:r>
              <a:rPr lang="en-US" b="1" dirty="0">
                <a:solidFill>
                  <a:srgbClr val="C00000"/>
                </a:solidFill>
              </a:rPr>
              <a:t>Supervisor: </a:t>
            </a:r>
            <a:r>
              <a:rPr lang="en-US" b="1" dirty="0">
                <a:solidFill>
                  <a:srgbClr val="C00000"/>
                </a:solidFill>
                <a:latin typeface="Times New Roman" panose="02020603050405020304" pitchFamily="18" charset="0"/>
                <a:cs typeface="Times New Roman" panose="02020603050405020304" pitchFamily="18" charset="0"/>
              </a:rPr>
              <a:t>DR.DASARI NAGA VINOD</a:t>
            </a:r>
          </a:p>
          <a:p>
            <a:pPr algn="ctr">
              <a:lnSpc>
                <a:spcPct val="150000"/>
              </a:lnSpc>
            </a:pPr>
            <a:r>
              <a:rPr lang="en-US" b="1" dirty="0">
                <a:solidFill>
                  <a:srgbClr val="C00000"/>
                </a:solidFill>
                <a:latin typeface="Times New Roman" panose="02020603050405020304" pitchFamily="18" charset="0"/>
                <a:cs typeface="Times New Roman" panose="02020603050405020304" pitchFamily="18" charset="0"/>
              </a:rPr>
              <a:t>DESIGNTION:ASSISTANT PROFESSOR</a:t>
            </a:r>
          </a:p>
          <a:p>
            <a:pPr algn="ctr">
              <a:lnSpc>
                <a:spcPct val="150000"/>
              </a:lnSpc>
            </a:pPr>
            <a:r>
              <a:rPr lang="en-US" sz="2000" b="1" dirty="0">
                <a:solidFill>
                  <a:srgbClr val="C00000"/>
                </a:solidFill>
              </a:rPr>
              <a:t> </a:t>
            </a:r>
          </a:p>
        </p:txBody>
      </p:sp>
      <p:pic>
        <p:nvPicPr>
          <p:cNvPr id="11" name="Picture 10">
            <a:extLst>
              <a:ext uri="{FF2B5EF4-FFF2-40B4-BE49-F238E27FC236}">
                <a16:creationId xmlns:a16="http://schemas.microsoft.com/office/drawing/2014/main" id="{937B5480-9DD3-0EC2-E4E2-A75BA3B12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416" y="131996"/>
            <a:ext cx="1500958" cy="1500958"/>
          </a:xfrm>
          <a:prstGeom prst="rect">
            <a:avLst/>
          </a:prstGeom>
        </p:spPr>
      </p:pic>
      <p:sp>
        <p:nvSpPr>
          <p:cNvPr id="4" name="TextBox 3">
            <a:extLst>
              <a:ext uri="{FF2B5EF4-FFF2-40B4-BE49-F238E27FC236}">
                <a16:creationId xmlns:a16="http://schemas.microsoft.com/office/drawing/2014/main" id="{7BC28C55-85CF-94E8-E8F8-4E6C8444CE3F}"/>
              </a:ext>
            </a:extLst>
          </p:cNvPr>
          <p:cNvSpPr txBox="1"/>
          <p:nvPr/>
        </p:nvSpPr>
        <p:spPr>
          <a:xfrm>
            <a:off x="3241982" y="2694230"/>
            <a:ext cx="3240361" cy="493853"/>
          </a:xfrm>
          <a:prstGeom prst="rect">
            <a:avLst/>
          </a:prstGeom>
          <a:noFill/>
        </p:spPr>
        <p:txBody>
          <a:bodyPr wrap="square" rtlCol="0">
            <a:spAutoFit/>
          </a:bodyPr>
          <a:lstStyle/>
          <a:p>
            <a:pPr algn="ctr">
              <a:lnSpc>
                <a:spcPct val="150000"/>
              </a:lnSpc>
            </a:pPr>
            <a:r>
              <a:rPr lang="en-US" sz="2000" b="1" dirty="0">
                <a:solidFill>
                  <a:srgbClr val="C00000"/>
                </a:solidFill>
              </a:rPr>
              <a:t>Domain: SP DOMAIN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229E3-8A09-15CF-AA7F-509CC3126261}"/>
              </a:ext>
            </a:extLst>
          </p:cNvPr>
          <p:cNvSpPr>
            <a:spLocks noGrp="1"/>
          </p:cNvSpPr>
          <p:nvPr>
            <p:ph type="title"/>
          </p:nvPr>
        </p:nvSpPr>
        <p:spPr/>
        <p:txBody>
          <a:bodyPr/>
          <a:lstStyle/>
          <a:p>
            <a:pPr algn="l"/>
            <a:r>
              <a:rPr lang="en-IN" dirty="0">
                <a:solidFill>
                  <a:srgbClr val="FF0000"/>
                </a:solidFill>
              </a:rPr>
              <a:t>Content</a:t>
            </a:r>
          </a:p>
        </p:txBody>
      </p:sp>
      <p:sp>
        <p:nvSpPr>
          <p:cNvPr id="3" name="Content Placeholder 2">
            <a:extLst>
              <a:ext uri="{FF2B5EF4-FFF2-40B4-BE49-F238E27FC236}">
                <a16:creationId xmlns:a16="http://schemas.microsoft.com/office/drawing/2014/main" id="{69042A46-BA70-4586-5587-138276CBDFE0}"/>
              </a:ext>
            </a:extLst>
          </p:cNvPr>
          <p:cNvSpPr>
            <a:spLocks noGrp="1"/>
          </p:cNvSpPr>
          <p:nvPr>
            <p:ph idx="1"/>
          </p:nvPr>
        </p:nvSpPr>
        <p:spPr/>
        <p:txBody>
          <a:bodyPr>
            <a:normAutofit fontScale="92500" lnSpcReduction="20000"/>
          </a:bodyPr>
          <a:lstStyle/>
          <a:p>
            <a:r>
              <a:rPr lang="en-IN" dirty="0"/>
              <a:t>Abstract with SDG</a:t>
            </a:r>
          </a:p>
          <a:p>
            <a:r>
              <a:rPr lang="en-IN" dirty="0"/>
              <a:t>Introduction and motivation</a:t>
            </a:r>
          </a:p>
          <a:p>
            <a:r>
              <a:rPr lang="en-IN" dirty="0"/>
              <a:t>Literature survey</a:t>
            </a:r>
          </a:p>
          <a:p>
            <a:r>
              <a:rPr lang="en-IN" dirty="0"/>
              <a:t>Objective</a:t>
            </a:r>
          </a:p>
          <a:p>
            <a:r>
              <a:rPr lang="en-IN" dirty="0"/>
              <a:t>Proposed Methodology/Algorithm/Model</a:t>
            </a:r>
          </a:p>
          <a:p>
            <a:r>
              <a:rPr lang="en-IN" dirty="0"/>
              <a:t>Design/Implementation </a:t>
            </a:r>
          </a:p>
          <a:p>
            <a:r>
              <a:rPr lang="en-IN" dirty="0"/>
              <a:t>Results and Discussion</a:t>
            </a:r>
          </a:p>
          <a:p>
            <a:r>
              <a:rPr lang="en-IN" dirty="0"/>
              <a:t>Conclusion with Justification for SDG alignment</a:t>
            </a:r>
          </a:p>
          <a:p>
            <a:r>
              <a:rPr lang="en-IN" dirty="0"/>
              <a:t>References</a:t>
            </a:r>
          </a:p>
          <a:p>
            <a:endParaRPr lang="en-IN" dirty="0"/>
          </a:p>
        </p:txBody>
      </p:sp>
      <p:sp>
        <p:nvSpPr>
          <p:cNvPr id="4" name="Footer Placeholder 3">
            <a:extLst>
              <a:ext uri="{FF2B5EF4-FFF2-40B4-BE49-F238E27FC236}">
                <a16:creationId xmlns:a16="http://schemas.microsoft.com/office/drawing/2014/main" id="{05E395E7-42E8-C3A4-8BDB-9D62080F4756}"/>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9F69F571-CC7D-FEE7-D006-BE5970F4DAFD}"/>
              </a:ext>
            </a:extLst>
          </p:cNvPr>
          <p:cNvSpPr>
            <a:spLocks noGrp="1"/>
          </p:cNvSpPr>
          <p:nvPr>
            <p:ph type="sldNum" sz="quarter" idx="12"/>
          </p:nvPr>
        </p:nvSpPr>
        <p:spPr/>
        <p:txBody>
          <a:bodyPr/>
          <a:lstStyle/>
          <a:p>
            <a:fld id="{8E4F4909-AB91-4702-BFA2-E3C21A7DF79A}" type="slidenum">
              <a:rPr lang="en-US" smtClean="0"/>
              <a:t>2</a:t>
            </a:fld>
            <a:endParaRPr lang="en-US"/>
          </a:p>
        </p:txBody>
      </p:sp>
    </p:spTree>
    <p:extLst>
      <p:ext uri="{BB962C8B-B14F-4D97-AF65-F5344CB8AC3E}">
        <p14:creationId xmlns:p14="http://schemas.microsoft.com/office/powerpoint/2010/main" val="230518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647A-4541-546A-263D-CB537A440A2F}"/>
              </a:ext>
            </a:extLst>
          </p:cNvPr>
          <p:cNvSpPr>
            <a:spLocks noGrp="1"/>
          </p:cNvSpPr>
          <p:nvPr>
            <p:ph type="title"/>
          </p:nvPr>
        </p:nvSpPr>
        <p:spPr>
          <a:xfrm>
            <a:off x="571500" y="274638"/>
            <a:ext cx="10287000" cy="992013"/>
          </a:xfrm>
        </p:spPr>
        <p:txBody>
          <a:bodyPr>
            <a:normAutofit fontScale="90000"/>
          </a:bodyPr>
          <a:lstStyle/>
          <a:p>
            <a:br>
              <a:rPr lang="en-IN" dirty="0"/>
            </a:br>
            <a:r>
              <a:rPr lang="en-IN" dirty="0"/>
              <a:t> Abstract with SDG</a:t>
            </a:r>
            <a:br>
              <a:rPr lang="en-IN" dirty="0"/>
            </a:br>
            <a:br>
              <a:rPr lang="en-IN" dirty="0"/>
            </a:br>
            <a:endParaRPr lang="en-IN" dirty="0"/>
          </a:p>
        </p:txBody>
      </p:sp>
      <p:sp>
        <p:nvSpPr>
          <p:cNvPr id="3" name="Content Placeholder 2">
            <a:extLst>
              <a:ext uri="{FF2B5EF4-FFF2-40B4-BE49-F238E27FC236}">
                <a16:creationId xmlns:a16="http://schemas.microsoft.com/office/drawing/2014/main" id="{BBF89D6E-7D0B-6DDA-F912-70E821E05452}"/>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This  Abstract addresses the growing need for reliable surveillance systems in sensitive border regions such as the Line of Control (LoC), aligning with </a:t>
            </a:r>
            <a:r>
              <a:rPr lang="en-US" b="1" dirty="0">
                <a:latin typeface="Times New Roman" panose="02020603050405020304" pitchFamily="18" charset="0"/>
                <a:cs typeface="Times New Roman" panose="02020603050405020304" pitchFamily="18" charset="0"/>
              </a:rPr>
              <a:t>SDG 16: Peace, Justice and Strong Institutions</a:t>
            </a:r>
            <a:r>
              <a:rPr lang="en-US" dirty="0">
                <a:latin typeface="Times New Roman" panose="02020603050405020304" pitchFamily="18" charset="0"/>
                <a:cs typeface="Times New Roman" panose="02020603050405020304" pitchFamily="18" charset="0"/>
              </a:rPr>
              <a:t>. We propose a Smart Intrusion Detection Entity (SIDE) system based on the YOLO (You Only Look Once) deep learning framework, integrated with IoT devices such as inductive sensors and web cameras. The system processes real-time video data through preprocessing and feature extraction to distinguish intruders from non-threatening entities. Upon detection, instant alerts are transmitted to a centralized defense control unit via cloud platforms. A customized training strategy is employed to improve robustness under varying environmental conditions. The proposed approach ensures fast, accurate, and efficient intrusion detection, enhancing border surveillance and supporting timely security responses</a:t>
            </a:r>
            <a:endParaRPr lang="en-IN" dirty="0">
              <a:latin typeface="Times New Roman" panose="02020603050405020304" pitchFamily="18" charset="0"/>
              <a:cs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id="{2DE41A87-BBEF-7BB6-C4AD-53452B0146EF}"/>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32141EE8-48B2-33D2-43AF-6A0650948DCC}"/>
              </a:ext>
            </a:extLst>
          </p:cNvPr>
          <p:cNvSpPr>
            <a:spLocks noGrp="1"/>
          </p:cNvSpPr>
          <p:nvPr>
            <p:ph type="sldNum" sz="quarter" idx="12"/>
          </p:nvPr>
        </p:nvSpPr>
        <p:spPr/>
        <p:txBody>
          <a:bodyPr/>
          <a:lstStyle/>
          <a:p>
            <a:fld id="{8E4F4909-AB91-4702-BFA2-E3C21A7DF79A}" type="slidenum">
              <a:rPr lang="en-US" smtClean="0"/>
              <a:t>3</a:t>
            </a:fld>
            <a:endParaRPr lang="en-US"/>
          </a:p>
        </p:txBody>
      </p:sp>
    </p:spTree>
    <p:extLst>
      <p:ext uri="{BB962C8B-B14F-4D97-AF65-F5344CB8AC3E}">
        <p14:creationId xmlns:p14="http://schemas.microsoft.com/office/powerpoint/2010/main" val="881708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FF2F6-F186-F1CB-623C-9381A7C72D7C}"/>
              </a:ext>
            </a:extLst>
          </p:cNvPr>
          <p:cNvSpPr>
            <a:spLocks noGrp="1"/>
          </p:cNvSpPr>
          <p:nvPr>
            <p:ph type="title"/>
          </p:nvPr>
        </p:nvSpPr>
        <p:spPr/>
        <p:txBody>
          <a:bodyPr>
            <a:normAutofit fontScale="90000"/>
          </a:bodyPr>
          <a:lstStyle/>
          <a:p>
            <a:r>
              <a:rPr lang="en-IN" dirty="0"/>
              <a:t>Introduction and motivation</a:t>
            </a:r>
            <a:br>
              <a:rPr lang="en-IN" dirty="0"/>
            </a:br>
            <a:endParaRPr lang="en-IN" dirty="0"/>
          </a:p>
        </p:txBody>
      </p:sp>
      <p:sp>
        <p:nvSpPr>
          <p:cNvPr id="3" name="Content Placeholder 2">
            <a:extLst>
              <a:ext uri="{FF2B5EF4-FFF2-40B4-BE49-F238E27FC236}">
                <a16:creationId xmlns:a16="http://schemas.microsoft.com/office/drawing/2014/main" id="{F72E83A0-424C-8AE4-359A-2506CCBEA810}"/>
              </a:ext>
            </a:extLst>
          </p:cNvPr>
          <p:cNvSpPr>
            <a:spLocks noGrp="1"/>
          </p:cNvSpPr>
          <p:nvPr>
            <p:ph idx="1"/>
          </p:nvPr>
        </p:nvSpPr>
        <p:spPr/>
        <p:txBody>
          <a:bodyPr>
            <a:normAutofit/>
          </a:bodyPr>
          <a:lstStyle/>
          <a:p>
            <a:pPr marL="0" indent="0">
              <a:buNone/>
            </a:pPr>
            <a:r>
              <a:rPr lang="en-IN" b="1" dirty="0"/>
              <a:t>   Introduction</a:t>
            </a:r>
            <a:r>
              <a:rPr lang="en-IN" dirty="0"/>
              <a:t>:</a:t>
            </a:r>
          </a:p>
          <a:p>
            <a:r>
              <a:rPr lang="en-US" sz="2800" dirty="0">
                <a:latin typeface="Times New Roman" panose="02020603050405020304" pitchFamily="18" charset="0"/>
                <a:cs typeface="Times New Roman" panose="02020603050405020304" pitchFamily="18" charset="0"/>
              </a:rPr>
              <a:t>Border security is a critical component of national safety, especially in high-risk and geographically sensitive regions. Traditional surveillance methods, which rely heavily on manual monitoring and static camera systems, often face limitations such as delayed response, human error, and inability to operate efficiently in harsh environmental conditions. With increasing security challenges and unpredictable intrusion patterns, there is a growing demand for intelligent, automated, and real-time monitoring solutions</a:t>
            </a:r>
            <a:r>
              <a:rPr lang="en-US" sz="2800" dirty="0"/>
              <a:t>.</a:t>
            </a:r>
          </a:p>
          <a:p>
            <a:endParaRPr lang="en-IN" dirty="0"/>
          </a:p>
        </p:txBody>
      </p:sp>
      <p:sp>
        <p:nvSpPr>
          <p:cNvPr id="4" name="Footer Placeholder 3">
            <a:extLst>
              <a:ext uri="{FF2B5EF4-FFF2-40B4-BE49-F238E27FC236}">
                <a16:creationId xmlns:a16="http://schemas.microsoft.com/office/drawing/2014/main" id="{7D647F9A-A47F-B74D-B15D-BD2EDBF834E9}"/>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E961104F-2792-2E05-1569-C2CC69178E70}"/>
              </a:ext>
            </a:extLst>
          </p:cNvPr>
          <p:cNvSpPr>
            <a:spLocks noGrp="1"/>
          </p:cNvSpPr>
          <p:nvPr>
            <p:ph type="sldNum" sz="quarter" idx="12"/>
          </p:nvPr>
        </p:nvSpPr>
        <p:spPr/>
        <p:txBody>
          <a:bodyPr/>
          <a:lstStyle/>
          <a:p>
            <a:fld id="{8E4F4909-AB91-4702-BFA2-E3C21A7DF79A}" type="slidenum">
              <a:rPr lang="en-US" smtClean="0"/>
              <a:t>4</a:t>
            </a:fld>
            <a:endParaRPr lang="en-US"/>
          </a:p>
        </p:txBody>
      </p:sp>
    </p:spTree>
    <p:extLst>
      <p:ext uri="{BB962C8B-B14F-4D97-AF65-F5344CB8AC3E}">
        <p14:creationId xmlns:p14="http://schemas.microsoft.com/office/powerpoint/2010/main" val="207073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D305E-6492-0A4F-C7BD-5F8500C55516}"/>
              </a:ext>
            </a:extLst>
          </p:cNvPr>
          <p:cNvSpPr>
            <a:spLocks noGrp="1"/>
          </p:cNvSpPr>
          <p:nvPr>
            <p:ph type="title"/>
          </p:nvPr>
        </p:nvSpPr>
        <p:spPr/>
        <p:txBody>
          <a:bodyPr>
            <a:normAutofit/>
          </a:bodyPr>
          <a:lstStyle/>
          <a:p>
            <a:r>
              <a:rPr lang="en-IN" sz="800" dirty="0"/>
              <a:t>.</a:t>
            </a:r>
          </a:p>
        </p:txBody>
      </p:sp>
      <p:sp>
        <p:nvSpPr>
          <p:cNvPr id="3" name="Content Placeholder 2">
            <a:extLst>
              <a:ext uri="{FF2B5EF4-FFF2-40B4-BE49-F238E27FC236}">
                <a16:creationId xmlns:a16="http://schemas.microsoft.com/office/drawing/2014/main" id="{6184D2EB-18A8-E3D0-2273-FE9CC95C5B52}"/>
              </a:ext>
            </a:extLst>
          </p:cNvPr>
          <p:cNvSpPr>
            <a:spLocks noGrp="1"/>
          </p:cNvSpPr>
          <p:nvPr>
            <p:ph idx="1"/>
          </p:nvPr>
        </p:nvSpPr>
        <p:spPr/>
        <p:txBody>
          <a:bodyPr>
            <a:normAutofit/>
          </a:bodyPr>
          <a:lstStyle/>
          <a:p>
            <a:pPr marL="0" indent="0">
              <a:buNone/>
            </a:pPr>
            <a:r>
              <a:rPr lang="en-IN" b="1" dirty="0"/>
              <a:t>    Motivation:</a:t>
            </a:r>
          </a:p>
          <a:p>
            <a:r>
              <a:rPr lang="en-US" dirty="0">
                <a:latin typeface="Times New Roman" panose="02020603050405020304" pitchFamily="18" charset="0"/>
                <a:cs typeface="Times New Roman" panose="02020603050405020304" pitchFamily="18" charset="0"/>
              </a:rPr>
              <a:t>The primary motivation for this work arises from the need to overcome the limitations of conventional border security systems. Delayed threat detection and dependence on human surveillance can lead to critical security lapses in sensitive border zones. Additionally, challenging terrains and extreme weather conditions further reduce the effectiveness of traditional systems.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2BF026F-4F6E-D04B-8D6D-47FFCA2F9D6C}"/>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50570EDF-3E8A-EC20-4134-B983CB62406F}"/>
              </a:ext>
            </a:extLst>
          </p:cNvPr>
          <p:cNvSpPr>
            <a:spLocks noGrp="1"/>
          </p:cNvSpPr>
          <p:nvPr>
            <p:ph type="sldNum" sz="quarter" idx="12"/>
          </p:nvPr>
        </p:nvSpPr>
        <p:spPr/>
        <p:txBody>
          <a:bodyPr/>
          <a:lstStyle/>
          <a:p>
            <a:fld id="{8E4F4909-AB91-4702-BFA2-E3C21A7DF79A}" type="slidenum">
              <a:rPr lang="en-US" smtClean="0"/>
              <a:t>5</a:t>
            </a:fld>
            <a:endParaRPr lang="en-US"/>
          </a:p>
        </p:txBody>
      </p:sp>
    </p:spTree>
    <p:extLst>
      <p:ext uri="{BB962C8B-B14F-4D97-AF65-F5344CB8AC3E}">
        <p14:creationId xmlns:p14="http://schemas.microsoft.com/office/powerpoint/2010/main" val="157386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F186-DFEF-2A9E-5298-7A68CA032AE0}"/>
              </a:ext>
            </a:extLst>
          </p:cNvPr>
          <p:cNvSpPr>
            <a:spLocks noGrp="1"/>
          </p:cNvSpPr>
          <p:nvPr>
            <p:ph type="title"/>
          </p:nvPr>
        </p:nvSpPr>
        <p:spPr>
          <a:xfrm>
            <a:off x="571500" y="274638"/>
            <a:ext cx="10287000" cy="778098"/>
          </a:xfrm>
        </p:spPr>
        <p:txBody>
          <a:bodyPr>
            <a:normAutofit fontScale="90000"/>
          </a:bodyPr>
          <a:lstStyle/>
          <a:p>
            <a:br>
              <a:rPr lang="en-IN" dirty="0"/>
            </a:br>
            <a:r>
              <a:rPr lang="en-IN" dirty="0"/>
              <a:t>Literature survey</a:t>
            </a:r>
            <a:br>
              <a:rPr lang="en-IN" dirty="0"/>
            </a:br>
            <a:endParaRPr lang="en-IN" dirty="0"/>
          </a:p>
        </p:txBody>
      </p:sp>
      <p:sp>
        <p:nvSpPr>
          <p:cNvPr id="4" name="Footer Placeholder 3">
            <a:extLst>
              <a:ext uri="{FF2B5EF4-FFF2-40B4-BE49-F238E27FC236}">
                <a16:creationId xmlns:a16="http://schemas.microsoft.com/office/drawing/2014/main" id="{D2F5484D-3AA0-0C90-A30C-11FCEDEF53BD}"/>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988E0909-18D7-D6DD-A5B7-E750024B1E40}"/>
              </a:ext>
            </a:extLst>
          </p:cNvPr>
          <p:cNvSpPr>
            <a:spLocks noGrp="1"/>
          </p:cNvSpPr>
          <p:nvPr>
            <p:ph type="sldNum" sz="quarter" idx="12"/>
          </p:nvPr>
        </p:nvSpPr>
        <p:spPr/>
        <p:txBody>
          <a:bodyPr/>
          <a:lstStyle/>
          <a:p>
            <a:fld id="{8E4F4909-AB91-4702-BFA2-E3C21A7DF79A}" type="slidenum">
              <a:rPr lang="en-US" smtClean="0"/>
              <a:t>6</a:t>
            </a:fld>
            <a:endParaRPr lang="en-US"/>
          </a:p>
        </p:txBody>
      </p:sp>
      <p:graphicFrame>
        <p:nvGraphicFramePr>
          <p:cNvPr id="6" name="Table 2">
            <a:extLst>
              <a:ext uri="{FF2B5EF4-FFF2-40B4-BE49-F238E27FC236}">
                <a16:creationId xmlns:a16="http://schemas.microsoft.com/office/drawing/2014/main" id="{E9FC6004-99AE-E6AC-BD49-7ACD856B377D}"/>
              </a:ext>
            </a:extLst>
          </p:cNvPr>
          <p:cNvGraphicFramePr>
            <a:graphicFrameLocks/>
          </p:cNvGraphicFramePr>
          <p:nvPr>
            <p:extLst>
              <p:ext uri="{D42A27DB-BD31-4B8C-83A1-F6EECF244321}">
                <p14:modId xmlns:p14="http://schemas.microsoft.com/office/powerpoint/2010/main" val="3373365742"/>
              </p:ext>
            </p:extLst>
          </p:nvPr>
        </p:nvGraphicFramePr>
        <p:xfrm>
          <a:off x="1106488" y="988047"/>
          <a:ext cx="9505055" cy="5566512"/>
        </p:xfrm>
        <a:graphic>
          <a:graphicData uri="http://schemas.openxmlformats.org/drawingml/2006/table">
            <a:tbl>
              <a:tblPr firstRow="1" bandRow="1">
                <a:tableStyleId>{5C22544A-7EE6-4342-B048-85BDC9FD1C3A}</a:tableStyleId>
              </a:tblPr>
              <a:tblGrid>
                <a:gridCol w="878642">
                  <a:extLst>
                    <a:ext uri="{9D8B030D-6E8A-4147-A177-3AD203B41FA5}">
                      <a16:colId xmlns:a16="http://schemas.microsoft.com/office/drawing/2014/main" val="1208860049"/>
                    </a:ext>
                  </a:extLst>
                </a:gridCol>
                <a:gridCol w="1209590">
                  <a:extLst>
                    <a:ext uri="{9D8B030D-6E8A-4147-A177-3AD203B41FA5}">
                      <a16:colId xmlns:a16="http://schemas.microsoft.com/office/drawing/2014/main" val="20000"/>
                    </a:ext>
                  </a:extLst>
                </a:gridCol>
                <a:gridCol w="2544497">
                  <a:extLst>
                    <a:ext uri="{9D8B030D-6E8A-4147-A177-3AD203B41FA5}">
                      <a16:colId xmlns:a16="http://schemas.microsoft.com/office/drawing/2014/main" val="20001"/>
                    </a:ext>
                  </a:extLst>
                </a:gridCol>
                <a:gridCol w="1421761">
                  <a:extLst>
                    <a:ext uri="{9D8B030D-6E8A-4147-A177-3AD203B41FA5}">
                      <a16:colId xmlns:a16="http://schemas.microsoft.com/office/drawing/2014/main" val="20002"/>
                    </a:ext>
                  </a:extLst>
                </a:gridCol>
                <a:gridCol w="1490017">
                  <a:extLst>
                    <a:ext uri="{9D8B030D-6E8A-4147-A177-3AD203B41FA5}">
                      <a16:colId xmlns:a16="http://schemas.microsoft.com/office/drawing/2014/main" val="20003"/>
                    </a:ext>
                  </a:extLst>
                </a:gridCol>
                <a:gridCol w="1960548">
                  <a:extLst>
                    <a:ext uri="{9D8B030D-6E8A-4147-A177-3AD203B41FA5}">
                      <a16:colId xmlns:a16="http://schemas.microsoft.com/office/drawing/2014/main" val="20004"/>
                    </a:ext>
                  </a:extLst>
                </a:gridCol>
              </a:tblGrid>
              <a:tr h="494895">
                <a:tc>
                  <a:txBody>
                    <a:bodyPr/>
                    <a:lstStyle/>
                    <a:p>
                      <a:r>
                        <a:rPr lang="en-IN" sz="1400" dirty="0" err="1">
                          <a:latin typeface="Times New Roman" panose="02020603050405020304" pitchFamily="18" charset="0"/>
                          <a:cs typeface="Times New Roman" panose="02020603050405020304" pitchFamily="18" charset="0"/>
                        </a:rPr>
                        <a:t>Sl</a:t>
                      </a:r>
                      <a:r>
                        <a:rPr lang="en-IN" sz="1400" dirty="0">
                          <a:latin typeface="Times New Roman" panose="02020603050405020304" pitchFamily="18" charset="0"/>
                          <a:cs typeface="Times New Roman" panose="02020603050405020304" pitchFamily="18" charset="0"/>
                        </a:rPr>
                        <a:t> No</a:t>
                      </a:r>
                    </a:p>
                  </a:txBody>
                  <a:tcPr marL="91446" marR="91446" marT="45706" marB="45706"/>
                </a:tc>
                <a:tc>
                  <a:txBody>
                    <a:bodyPr/>
                    <a:lstStyle/>
                    <a:p>
                      <a:r>
                        <a:rPr lang="en-US" sz="1400" dirty="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dirty="0">
                          <a:latin typeface="Times New Roman" panose="02020603050405020304" pitchFamily="18" charset="0"/>
                          <a:cs typeface="Times New Roman" panose="02020603050405020304" pitchFamily="18" charset="0"/>
                        </a:rPr>
                        <a:t>Journal Details with Year</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dirty="0">
                          <a:latin typeface="Times New Roman" panose="02020603050405020304" pitchFamily="18" charset="0"/>
                          <a:cs typeface="Times New Roman" panose="02020603050405020304" pitchFamily="18" charset="0"/>
                        </a:rPr>
                        <a:t>Study</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dirty="0">
                          <a:latin typeface="Times New Roman" panose="02020603050405020304" pitchFamily="18" charset="0"/>
                          <a:cs typeface="Times New Roman" panose="02020603050405020304" pitchFamily="18" charset="0"/>
                        </a:rPr>
                        <a:t>Inference</a:t>
                      </a:r>
                      <a:endParaRPr lang="en-IN" sz="1400" dirty="0">
                        <a:latin typeface="Times New Roman" panose="02020603050405020304" pitchFamily="18" charset="0"/>
                        <a:cs typeface="Times New Roman" panose="02020603050405020304" pitchFamily="18" charset="0"/>
                      </a:endParaRPr>
                    </a:p>
                  </a:txBody>
                  <a:tcPr marL="91446" marR="91446" marT="45706" marB="45706"/>
                </a:tc>
                <a:extLst>
                  <a:ext uri="{0D108BD9-81ED-4DB2-BD59-A6C34878D82A}">
                    <a16:rowId xmlns:a16="http://schemas.microsoft.com/office/drawing/2014/main" val="10000"/>
                  </a:ext>
                </a:extLst>
              </a:tr>
              <a:tr h="1310059">
                <a:tc>
                  <a:txBody>
                    <a:bodyPr/>
                    <a:lstStyle/>
                    <a:p>
                      <a:pPr algn="ctr"/>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err="1">
                          <a:latin typeface="Times New Roman" panose="02020603050405020304" pitchFamily="18" charset="0"/>
                          <a:cs typeface="Times New Roman" panose="02020603050405020304" pitchFamily="18" charset="0"/>
                        </a:rPr>
                        <a:t>Bedi.G</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Review of internet of things in electric power and energy system</a:t>
                      </a:r>
                    </a:p>
                    <a:p>
                      <a:pPr algn="l"/>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Engineering and science of technology journel,5 (2018)</a:t>
                      </a:r>
                      <a:br>
                        <a:rPr lang="en-US"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Electric power and electric systems</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 </a:t>
                      </a:r>
                      <a:r>
                        <a:rPr lang="en-US" sz="1400" dirty="0">
                          <a:latin typeface="Times New Roman" pitchFamily="18" charset="0"/>
                          <a:cs typeface="Times New Roman" pitchFamily="18" charset="0"/>
                        </a:rPr>
                        <a:t> the </a:t>
                      </a:r>
                      <a:r>
                        <a:rPr lang="en-US" sz="1400" dirty="0" err="1">
                          <a:latin typeface="Times New Roman" pitchFamily="18" charset="0"/>
                          <a:cs typeface="Times New Roman" pitchFamily="18" charset="0"/>
                        </a:rPr>
                        <a:t>Iot</a:t>
                      </a:r>
                      <a:r>
                        <a:rPr lang="en-US" sz="1400" dirty="0">
                          <a:latin typeface="Times New Roman" pitchFamily="18" charset="0"/>
                          <a:cs typeface="Times New Roman" pitchFamily="18" charset="0"/>
                        </a:rPr>
                        <a:t> is </a:t>
                      </a:r>
                      <a:r>
                        <a:rPr lang="en-US" sz="1400" dirty="0" err="1">
                          <a:latin typeface="Times New Roman" pitchFamily="18" charset="0"/>
                          <a:cs typeface="Times New Roman" pitchFamily="18" charset="0"/>
                        </a:rPr>
                        <a:t>uded</a:t>
                      </a:r>
                      <a:r>
                        <a:rPr lang="en-US" sz="1400" dirty="0">
                          <a:latin typeface="Times New Roman" pitchFamily="18" charset="0"/>
                          <a:cs typeface="Times New Roman" pitchFamily="18" charset="0"/>
                        </a:rPr>
                        <a:t> to measure the electric power and energy </a:t>
                      </a:r>
                      <a:r>
                        <a:rPr lang="en-US" sz="1400" dirty="0" err="1">
                          <a:latin typeface="Times New Roman" pitchFamily="18" charset="0"/>
                          <a:cs typeface="Times New Roman" pitchFamily="18" charset="0"/>
                        </a:rPr>
                        <a:t>systms</a:t>
                      </a:r>
                      <a:endParaRPr lang="en-IN" sz="1400" kern="1200" dirty="0">
                        <a:solidFill>
                          <a:schemeClr val="dk1"/>
                        </a:solidFill>
                        <a:latin typeface="Times New Roman" pitchFamily="18" charset="0"/>
                        <a:ea typeface="+mn-ea"/>
                        <a:cs typeface="Times New Roman"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extLst>
                  <a:ext uri="{0D108BD9-81ED-4DB2-BD59-A6C34878D82A}">
                    <a16:rowId xmlns:a16="http://schemas.microsoft.com/office/drawing/2014/main" val="3813090843"/>
                  </a:ext>
                </a:extLst>
              </a:tr>
              <a:tr h="1147024">
                <a:tc>
                  <a:txBody>
                    <a:bodyPr/>
                    <a:lstStyle/>
                    <a:p>
                      <a:pPr algn="ct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IN" sz="1400" dirty="0" err="1">
                          <a:latin typeface="Times New Roman" panose="02020603050405020304" pitchFamily="18" charset="0"/>
                          <a:cs typeface="Times New Roman" panose="02020603050405020304" pitchFamily="18" charset="0"/>
                        </a:rPr>
                        <a:t>Wei,j,chen.k</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l"/>
                      <a:r>
                        <a:rPr lang="en-US" sz="1400" dirty="0" err="1">
                          <a:latin typeface="Times New Roman" panose="02020603050405020304" pitchFamily="18" charset="0"/>
                          <a:cs typeface="Times New Roman" panose="02020603050405020304" pitchFamily="18" charset="0"/>
                        </a:rPr>
                        <a:t>Multiflier</a:t>
                      </a:r>
                      <a:r>
                        <a:rPr lang="en-US" sz="1400" dirty="0">
                          <a:latin typeface="Times New Roman" panose="02020603050405020304" pitchFamily="18" charset="0"/>
                          <a:cs typeface="Times New Roman" panose="02020603050405020304" pitchFamily="18" charset="0"/>
                        </a:rPr>
                        <a:t> fog computing with large scale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 data analysis for smart cities</a:t>
                      </a:r>
                      <a:endParaRPr lang="en-IN" sz="1400" dirty="0">
                        <a:latin typeface="Times New Roman" panose="02020603050405020304" pitchFamily="18" charset="0"/>
                        <a:cs typeface="Times New Roman" panose="02020603050405020304" pitchFamily="18" charset="0"/>
                      </a:endParaRPr>
                    </a:p>
                    <a:p>
                      <a:pPr algn="l"/>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dirty="0">
                          <a:latin typeface="Times New Roman" panose="02020603050405020304" pitchFamily="18" charset="0"/>
                          <a:cs typeface="Times New Roman" panose="02020603050405020304" pitchFamily="18" charset="0"/>
                        </a:rPr>
                        <a:t>IEEE internet of things journel5(2)</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In this computing the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 is used for analysis of fog in </a:t>
                      </a:r>
                      <a:r>
                        <a:rPr lang="en-US" sz="1400" dirty="0" err="1">
                          <a:latin typeface="Times New Roman" panose="02020603050405020304" pitchFamily="18" charset="0"/>
                          <a:cs typeface="Times New Roman" panose="02020603050405020304" pitchFamily="18" charset="0"/>
                        </a:rPr>
                        <a:t>majior</a:t>
                      </a:r>
                      <a:r>
                        <a:rPr lang="en-US" sz="1400" dirty="0">
                          <a:latin typeface="Times New Roman" panose="02020603050405020304" pitchFamily="18" charset="0"/>
                          <a:cs typeface="Times New Roman" panose="02020603050405020304" pitchFamily="18" charset="0"/>
                        </a:rPr>
                        <a:t> city</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 </a:t>
                      </a:r>
                      <a:r>
                        <a:rPr lang="en-US" sz="1400" dirty="0">
                          <a:latin typeface="Times New Roman" pitchFamily="18" charset="0"/>
                          <a:cs typeface="Times New Roman" pitchFamily="18" charset="0"/>
                        </a:rPr>
                        <a:t>In the city the morning fog can be reduced </a:t>
                      </a:r>
                      <a:r>
                        <a:rPr lang="en-US" sz="1400" dirty="0" err="1">
                          <a:latin typeface="Times New Roman" pitchFamily="18" charset="0"/>
                          <a:cs typeface="Times New Roman" pitchFamily="18" charset="0"/>
                        </a:rPr>
                        <a:t>sucessfully</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extLst>
                  <a:ext uri="{0D108BD9-81ED-4DB2-BD59-A6C34878D82A}">
                    <a16:rowId xmlns:a16="http://schemas.microsoft.com/office/drawing/2014/main" val="10001"/>
                  </a:ext>
                </a:extLst>
              </a:tr>
              <a:tr h="1310059">
                <a:tc>
                  <a:txBody>
                    <a:bodyPr/>
                    <a:lstStyle/>
                    <a:p>
                      <a:pPr algn="ctr"/>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IN" sz="1400" b="0" dirty="0" err="1">
                          <a:latin typeface="Times New Roman" panose="02020603050405020304" pitchFamily="18" charset="0"/>
                          <a:cs typeface="Times New Roman" panose="02020603050405020304" pitchFamily="18" charset="0"/>
                        </a:rPr>
                        <a:t>M.metis.V</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Intelligent </a:t>
                      </a:r>
                      <a:r>
                        <a:rPr lang="en-US" sz="1400" dirty="0" err="1">
                          <a:latin typeface="Times New Roman" pitchFamily="18" charset="0"/>
                          <a:cs typeface="Times New Roman" pitchFamily="18" charset="0"/>
                        </a:rPr>
                        <a:t>iot</a:t>
                      </a:r>
                      <a:r>
                        <a:rPr lang="en-US" sz="1400" dirty="0">
                          <a:latin typeface="Times New Roman" pitchFamily="18" charset="0"/>
                          <a:cs typeface="Times New Roman" pitchFamily="18" charset="0"/>
                        </a:rPr>
                        <a:t> based automated irrigation system</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International </a:t>
                      </a:r>
                      <a:r>
                        <a:rPr lang="en-IN" sz="1400" dirty="0" err="1">
                          <a:latin typeface="Times New Roman" panose="02020603050405020304" pitchFamily="18" charset="0"/>
                          <a:cs typeface="Times New Roman" panose="02020603050405020304" pitchFamily="18" charset="0"/>
                        </a:rPr>
                        <a:t>journel</a:t>
                      </a:r>
                      <a:r>
                        <a:rPr lang="en-IN" sz="1400" dirty="0">
                          <a:latin typeface="Times New Roman" panose="02020603050405020304" pitchFamily="18" charset="0"/>
                          <a:cs typeface="Times New Roman" panose="02020603050405020304" pitchFamily="18" charset="0"/>
                        </a:rPr>
                        <a:t> of Applied engineering(2017)</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Irrigation system is advanced</a:t>
                      </a:r>
                      <a:endParaRPr lang="en-IN" sz="14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en-US" sz="1400" baseline="0" dirty="0">
                          <a:latin typeface="Times New Roman" pitchFamily="18" charset="0"/>
                          <a:cs typeface="Times New Roman" pitchFamily="18" charset="0"/>
                        </a:rPr>
                        <a:t>By using </a:t>
                      </a:r>
                      <a:r>
                        <a:rPr lang="en-US" sz="1400" baseline="0" dirty="0" err="1">
                          <a:latin typeface="Times New Roman" pitchFamily="18" charset="0"/>
                          <a:cs typeface="Times New Roman" pitchFamily="18" charset="0"/>
                        </a:rPr>
                        <a:t>iot</a:t>
                      </a:r>
                      <a:r>
                        <a:rPr lang="en-US" sz="1400" baseline="0" dirty="0">
                          <a:latin typeface="Times New Roman" pitchFamily="18" charset="0"/>
                          <a:cs typeface="Times New Roman" pitchFamily="18" charset="0"/>
                        </a:rPr>
                        <a:t> system the irrigation system is used an advance system</a:t>
                      </a:r>
                      <a:endParaRPr lang="en-IN" sz="1400" dirty="0">
                        <a:latin typeface="Times New Roman" panose="02020603050405020304" pitchFamily="18" charset="0"/>
                        <a:cs typeface="Times New Roman" panose="02020603050405020304" pitchFamily="18" charset="0"/>
                      </a:endParaRPr>
                    </a:p>
                  </a:txBody>
                  <a:tcPr marL="91446" marR="91446" marT="45706" marB="45706"/>
                </a:tc>
                <a:extLst>
                  <a:ext uri="{0D108BD9-81ED-4DB2-BD59-A6C34878D82A}">
                    <a16:rowId xmlns:a16="http://schemas.microsoft.com/office/drawing/2014/main" val="10002"/>
                  </a:ext>
                </a:extLst>
              </a:tr>
              <a:tr h="1106268">
                <a:tc>
                  <a:txBody>
                    <a:bodyPr/>
                    <a:lstStyle/>
                    <a:p>
                      <a:pPr algn="ctr"/>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algn="ctr"/>
                      <a:r>
                        <a:rPr lang="fi-FI" sz="1400" dirty="0">
                          <a:latin typeface="Times New Roman" panose="02020603050405020304" pitchFamily="18" charset="0"/>
                          <a:cs typeface="Times New Roman" panose="02020603050405020304" pitchFamily="18" charset="0"/>
                        </a:rPr>
                        <a:t>P.K and Babu ,R </a:t>
                      </a:r>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AN evolutionary secure energy efficient routing protocol</a:t>
                      </a:r>
                      <a:endParaRPr lang="en-IN" sz="1400" dirty="0">
                        <a:latin typeface="Times New Roman" panose="02020603050405020304" pitchFamily="18" charset="0"/>
                        <a:cs typeface="Times New Roman" panose="02020603050405020304" pitchFamily="18" charset="0"/>
                      </a:endParaRPr>
                    </a:p>
                    <a:p>
                      <a:pPr algn="l"/>
                      <a:endParaRPr lang="en-IN" sz="1400" dirty="0">
                        <a:latin typeface="Times New Roman" panose="02020603050405020304" pitchFamily="18" charset="0"/>
                        <a:cs typeface="Times New Roman" panose="02020603050405020304" pitchFamily="18" charset="0"/>
                      </a:endParaRP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International </a:t>
                      </a:r>
                      <a:r>
                        <a:rPr lang="en-IN" sz="1400" dirty="0" err="1">
                          <a:latin typeface="Times New Roman" panose="02020603050405020304" pitchFamily="18" charset="0"/>
                          <a:cs typeface="Times New Roman" panose="02020603050405020304" pitchFamily="18" charset="0"/>
                        </a:rPr>
                        <a:t>journel</a:t>
                      </a:r>
                      <a:r>
                        <a:rPr lang="en-IN" sz="1400" dirty="0">
                          <a:latin typeface="Times New Roman" panose="02020603050405020304" pitchFamily="18" charset="0"/>
                          <a:cs typeface="Times New Roman" panose="02020603050405020304" pitchFamily="18" charset="0"/>
                        </a:rPr>
                        <a:t> of </a:t>
                      </a:r>
                      <a:r>
                        <a:rPr lang="en-IN" sz="1400" dirty="0" err="1">
                          <a:latin typeface="Times New Roman" panose="02020603050405020304" pitchFamily="18" charset="0"/>
                          <a:cs typeface="Times New Roman" panose="02020603050405020304" pitchFamily="18" charset="0"/>
                        </a:rPr>
                        <a:t>intelligient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engineeringand</a:t>
                      </a:r>
                      <a:r>
                        <a:rPr lang="en-IN" sz="1400" dirty="0">
                          <a:latin typeface="Times New Roman" panose="02020603050405020304" pitchFamily="18" charset="0"/>
                          <a:cs typeface="Times New Roman" panose="02020603050405020304" pitchFamily="18" charset="0"/>
                        </a:rPr>
                        <a:t> system(2017)</a:t>
                      </a: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Evolution of secure energy</a:t>
                      </a:r>
                    </a:p>
                  </a:txBody>
                  <a:tcPr marL="91446" marR="91446" marT="45706" marB="4570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Times New Roman" pitchFamily="18" charset="0"/>
                          <a:cs typeface="Times New Roman" pitchFamily="18" charset="0"/>
                        </a:rPr>
                        <a:t>The secure source of energy is secure in this protocol in </a:t>
                      </a:r>
                      <a:r>
                        <a:rPr lang="en-US" sz="1400" baseline="0" dirty="0" err="1">
                          <a:latin typeface="Times New Roman" pitchFamily="18" charset="0"/>
                          <a:cs typeface="Times New Roman" pitchFamily="18" charset="0"/>
                        </a:rPr>
                        <a:t>iot</a:t>
                      </a:r>
                      <a:r>
                        <a:rPr lang="en-US" sz="1400" baseline="0" dirty="0">
                          <a:latin typeface="Times New Roman" pitchFamily="18" charset="0"/>
                          <a:cs typeface="Times New Roman" pitchFamily="18" charset="0"/>
                        </a:rPr>
                        <a:t> </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L="91446" marR="91446" marT="45706" marB="45706"/>
                </a:tc>
                <a:extLst>
                  <a:ext uri="{0D108BD9-81ED-4DB2-BD59-A6C34878D82A}">
                    <a16:rowId xmlns:a16="http://schemas.microsoft.com/office/drawing/2014/main" val="3412977463"/>
                  </a:ext>
                </a:extLst>
              </a:tr>
            </a:tbl>
          </a:graphicData>
        </a:graphic>
      </p:graphicFrame>
    </p:spTree>
    <p:extLst>
      <p:ext uri="{BB962C8B-B14F-4D97-AF65-F5344CB8AC3E}">
        <p14:creationId xmlns:p14="http://schemas.microsoft.com/office/powerpoint/2010/main" val="3953433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BB142-1CC3-C622-0DA5-93193E42759E}"/>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8331BEB1-29CE-0C81-7257-B421A0D3F661}"/>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objective of the proposed </a:t>
            </a:r>
            <a:r>
              <a:rPr lang="en-US" i="1" dirty="0">
                <a:latin typeface="Times New Roman" panose="02020603050405020304" pitchFamily="18" charset="0"/>
                <a:cs typeface="Times New Roman" panose="02020603050405020304" pitchFamily="18" charset="0"/>
              </a:rPr>
              <a:t>“Border Security Reimagined: AI-Powered Smart Surveillance and Alert System with IoT”</a:t>
            </a:r>
            <a:r>
              <a:rPr lang="en-US" dirty="0">
                <a:latin typeface="Times New Roman" panose="02020603050405020304" pitchFamily="18" charset="0"/>
                <a:cs typeface="Times New Roman" panose="02020603050405020304" pitchFamily="18" charset="0"/>
              </a:rPr>
              <a:t> is to develop an intelligent and automated surveillance framework that enhances the efficiency and reliability of border security systems. The system aims to utilize deep learning techniques, particularly YOLO-based object detection, to accurately identify and classify intrusions in real time. It also focuses on integrating IoT devices such as cameras and sensors to enable continuous monitoring of border areas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1BA6FF6-BDA9-109A-238C-A1F9EA66B20E}"/>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88AD3203-7EE0-653D-5315-FFAF48CB6FD2}"/>
              </a:ext>
            </a:extLst>
          </p:cNvPr>
          <p:cNvSpPr>
            <a:spLocks noGrp="1"/>
          </p:cNvSpPr>
          <p:nvPr>
            <p:ph type="sldNum" sz="quarter" idx="12"/>
          </p:nvPr>
        </p:nvSpPr>
        <p:spPr/>
        <p:txBody>
          <a:bodyPr/>
          <a:lstStyle/>
          <a:p>
            <a:fld id="{8E4F4909-AB91-4702-BFA2-E3C21A7DF79A}" type="slidenum">
              <a:rPr lang="en-US" smtClean="0"/>
              <a:t>7</a:t>
            </a:fld>
            <a:endParaRPr lang="en-US"/>
          </a:p>
        </p:txBody>
      </p:sp>
    </p:spTree>
    <p:extLst>
      <p:ext uri="{BB962C8B-B14F-4D97-AF65-F5344CB8AC3E}">
        <p14:creationId xmlns:p14="http://schemas.microsoft.com/office/powerpoint/2010/main" val="3935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76EA3-E2F0-62EC-D380-5EB01CDF75B5}"/>
              </a:ext>
            </a:extLst>
          </p:cNvPr>
          <p:cNvSpPr>
            <a:spLocks noGrp="1"/>
          </p:cNvSpPr>
          <p:nvPr>
            <p:ph type="title"/>
          </p:nvPr>
        </p:nvSpPr>
        <p:spPr/>
        <p:txBody>
          <a:bodyPr>
            <a:normAutofit fontScale="90000"/>
          </a:bodyPr>
          <a:lstStyle/>
          <a:p>
            <a:br>
              <a:rPr lang="en-IN" dirty="0"/>
            </a:br>
            <a:r>
              <a:rPr lang="en-IN" sz="4000" dirty="0"/>
              <a:t>Proposed Methodology</a:t>
            </a:r>
            <a:br>
              <a:rPr lang="en-IN" dirty="0"/>
            </a:br>
            <a:endParaRPr lang="en-IN" dirty="0"/>
          </a:p>
        </p:txBody>
      </p:sp>
      <p:sp>
        <p:nvSpPr>
          <p:cNvPr id="3" name="Content Placeholder 2">
            <a:extLst>
              <a:ext uri="{FF2B5EF4-FFF2-40B4-BE49-F238E27FC236}">
                <a16:creationId xmlns:a16="http://schemas.microsoft.com/office/drawing/2014/main" id="{EB4D03C1-3170-B9D5-C0FC-3632D15F82FA}"/>
              </a:ext>
            </a:extLst>
          </p:cNvPr>
          <p:cNvSpPr>
            <a:spLocks noGrp="1"/>
          </p:cNvSpPr>
          <p:nvPr>
            <p:ph idx="1"/>
          </p:nvPr>
        </p:nvSpPr>
        <p:spPr/>
        <p:txBody>
          <a:bodyPr>
            <a:normAutofit/>
          </a:bodyPr>
          <a:lstStyle/>
          <a:p>
            <a:r>
              <a:rPr lang="en-IN" dirty="0"/>
              <a:t>Requirement Analysis</a:t>
            </a:r>
          </a:p>
          <a:p>
            <a:r>
              <a:rPr lang="en-IN" dirty="0"/>
              <a:t> System Design</a:t>
            </a:r>
          </a:p>
          <a:p>
            <a:r>
              <a:rPr lang="en-IN" dirty="0"/>
              <a:t> Hardware Deployment</a:t>
            </a:r>
          </a:p>
          <a:p>
            <a:r>
              <a:rPr lang="en-IN" dirty="0"/>
              <a:t> Data Collection</a:t>
            </a:r>
          </a:p>
          <a:p>
            <a:r>
              <a:rPr lang="en-IN" dirty="0"/>
              <a:t> Smart Alert System</a:t>
            </a:r>
          </a:p>
          <a:p>
            <a:r>
              <a:rPr lang="en-IN" dirty="0"/>
              <a:t>Monitoring Dashboard</a:t>
            </a:r>
          </a:p>
          <a:p>
            <a:r>
              <a:rPr lang="en-IN" dirty="0"/>
              <a:t>Testing and Validation</a:t>
            </a:r>
          </a:p>
        </p:txBody>
      </p:sp>
      <p:sp>
        <p:nvSpPr>
          <p:cNvPr id="4" name="Footer Placeholder 3">
            <a:extLst>
              <a:ext uri="{FF2B5EF4-FFF2-40B4-BE49-F238E27FC236}">
                <a16:creationId xmlns:a16="http://schemas.microsoft.com/office/drawing/2014/main" id="{2EEDFAC1-58C7-B4B8-56D3-88D15A3B668C}"/>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55736FB2-4339-D7C2-D44C-3E957A1A5826}"/>
              </a:ext>
            </a:extLst>
          </p:cNvPr>
          <p:cNvSpPr>
            <a:spLocks noGrp="1"/>
          </p:cNvSpPr>
          <p:nvPr>
            <p:ph type="sldNum" sz="quarter" idx="12"/>
          </p:nvPr>
        </p:nvSpPr>
        <p:spPr/>
        <p:txBody>
          <a:bodyPr/>
          <a:lstStyle/>
          <a:p>
            <a:fld id="{8E4F4909-AB91-4702-BFA2-E3C21A7DF79A}" type="slidenum">
              <a:rPr lang="en-US" smtClean="0"/>
              <a:t>8</a:t>
            </a:fld>
            <a:endParaRPr lang="en-US"/>
          </a:p>
        </p:txBody>
      </p:sp>
    </p:spTree>
    <p:extLst>
      <p:ext uri="{BB962C8B-B14F-4D97-AF65-F5344CB8AC3E}">
        <p14:creationId xmlns:p14="http://schemas.microsoft.com/office/powerpoint/2010/main" val="1731548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3AEE-EA80-CFCF-B13C-C1F93D025947}"/>
              </a:ext>
            </a:extLst>
          </p:cNvPr>
          <p:cNvSpPr>
            <a:spLocks noGrp="1"/>
          </p:cNvSpPr>
          <p:nvPr>
            <p:ph type="title"/>
          </p:nvPr>
        </p:nvSpPr>
        <p:spPr/>
        <p:txBody>
          <a:bodyPr/>
          <a:lstStyle/>
          <a:p>
            <a:r>
              <a:rPr lang="en-US" dirty="0"/>
              <a:t>Block Diagram</a:t>
            </a:r>
          </a:p>
        </p:txBody>
      </p:sp>
      <p:sp>
        <p:nvSpPr>
          <p:cNvPr id="4" name="Footer Placeholder 3">
            <a:extLst>
              <a:ext uri="{FF2B5EF4-FFF2-40B4-BE49-F238E27FC236}">
                <a16:creationId xmlns:a16="http://schemas.microsoft.com/office/drawing/2014/main" id="{2683A219-FE1F-0312-0967-078554BDA0C8}"/>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2B5E5747-1933-E90D-05BE-D480D05592BA}"/>
              </a:ext>
            </a:extLst>
          </p:cNvPr>
          <p:cNvSpPr>
            <a:spLocks noGrp="1"/>
          </p:cNvSpPr>
          <p:nvPr>
            <p:ph type="sldNum" sz="quarter" idx="12"/>
          </p:nvPr>
        </p:nvSpPr>
        <p:spPr/>
        <p:txBody>
          <a:bodyPr/>
          <a:lstStyle/>
          <a:p>
            <a:fld id="{8E4F4909-AB91-4702-BFA2-E3C21A7DF79A}" type="slidenum">
              <a:rPr lang="en-US" smtClean="0"/>
              <a:t>9</a:t>
            </a:fld>
            <a:endParaRPr lang="en-US"/>
          </a:p>
        </p:txBody>
      </p:sp>
      <p:pic>
        <p:nvPicPr>
          <p:cNvPr id="6" name="Content Placeholder 6">
            <a:extLst>
              <a:ext uri="{FF2B5EF4-FFF2-40B4-BE49-F238E27FC236}">
                <a16:creationId xmlns:a16="http://schemas.microsoft.com/office/drawing/2014/main" id="{3273301C-275A-ACF3-E701-971D43F20367}"/>
              </a:ext>
            </a:extLst>
          </p:cNvPr>
          <p:cNvPicPr>
            <a:picLocks noGrp="1" noChangeAspect="1"/>
          </p:cNvPicPr>
          <p:nvPr>
            <p:ph idx="1"/>
          </p:nvPr>
        </p:nvPicPr>
        <p:blipFill>
          <a:blip r:embed="rId2"/>
          <a:stretch>
            <a:fillRect/>
          </a:stretch>
        </p:blipFill>
        <p:spPr>
          <a:xfrm>
            <a:off x="4148954" y="1521003"/>
            <a:ext cx="3294238" cy="4194000"/>
          </a:xfrm>
          <a:prstGeom prst="rect">
            <a:avLst/>
          </a:prstGeom>
        </p:spPr>
      </p:pic>
    </p:spTree>
    <p:extLst>
      <p:ext uri="{BB962C8B-B14F-4D97-AF65-F5344CB8AC3E}">
        <p14:creationId xmlns:p14="http://schemas.microsoft.com/office/powerpoint/2010/main" val="263587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DEAE3-E6AC-1AF8-9461-ED84817D9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25D40-BC64-DE28-D872-CB4719ACDA1D}"/>
              </a:ext>
            </a:extLst>
          </p:cNvPr>
          <p:cNvSpPr>
            <a:spLocks noGrp="1"/>
          </p:cNvSpPr>
          <p:nvPr>
            <p:ph type="title"/>
          </p:nvPr>
        </p:nvSpPr>
        <p:spPr/>
        <p:txBody>
          <a:bodyPr>
            <a:normAutofit fontScale="90000"/>
          </a:bodyPr>
          <a:lstStyle/>
          <a:p>
            <a:br>
              <a:rPr lang="en-IN" dirty="0"/>
            </a:br>
            <a:r>
              <a:rPr lang="en-IN" dirty="0"/>
              <a:t>Design/Implementation </a:t>
            </a:r>
            <a:br>
              <a:rPr lang="en-IN" dirty="0"/>
            </a:br>
            <a:endParaRPr lang="en-IN" dirty="0"/>
          </a:p>
        </p:txBody>
      </p:sp>
      <p:sp>
        <p:nvSpPr>
          <p:cNvPr id="4" name="Footer Placeholder 3">
            <a:extLst>
              <a:ext uri="{FF2B5EF4-FFF2-40B4-BE49-F238E27FC236}">
                <a16:creationId xmlns:a16="http://schemas.microsoft.com/office/drawing/2014/main" id="{9489BD94-318C-B2E1-E203-C06734DAA51F}"/>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D921ED77-FAE5-B119-A2DB-C80D5126D443}"/>
              </a:ext>
            </a:extLst>
          </p:cNvPr>
          <p:cNvSpPr>
            <a:spLocks noGrp="1"/>
          </p:cNvSpPr>
          <p:nvPr>
            <p:ph type="sldNum" sz="quarter" idx="12"/>
          </p:nvPr>
        </p:nvSpPr>
        <p:spPr/>
        <p:txBody>
          <a:bodyPr/>
          <a:lstStyle/>
          <a:p>
            <a:fld id="{8E4F4909-AB91-4702-BFA2-E3C21A7DF79A}" type="slidenum">
              <a:rPr lang="en-US" smtClean="0"/>
              <a:t>10</a:t>
            </a:fld>
            <a:endParaRPr lang="en-US"/>
          </a:p>
        </p:txBody>
      </p:sp>
      <p:pic>
        <p:nvPicPr>
          <p:cNvPr id="9" name="Picture 8">
            <a:extLst>
              <a:ext uri="{FF2B5EF4-FFF2-40B4-BE49-F238E27FC236}">
                <a16:creationId xmlns:a16="http://schemas.microsoft.com/office/drawing/2014/main" id="{360B4888-C33E-667D-DF40-8902A682FFE8}"/>
              </a:ext>
            </a:extLst>
          </p:cNvPr>
          <p:cNvPicPr>
            <a:picLocks noChangeAspect="1"/>
          </p:cNvPicPr>
          <p:nvPr/>
        </p:nvPicPr>
        <p:blipFill>
          <a:blip r:embed="rId2">
            <a:extLst>
              <a:ext uri="{28A0092B-C50C-407E-A947-70E740481C1C}">
                <a14:useLocalDpi xmlns:a14="http://schemas.microsoft.com/office/drawing/2010/main" val="0"/>
              </a:ext>
            </a:extLst>
          </a:blip>
          <a:srcRect l="1000" b="13447"/>
          <a:stretch>
            <a:fillRect/>
          </a:stretch>
        </p:blipFill>
        <p:spPr>
          <a:xfrm>
            <a:off x="2330624" y="1426476"/>
            <a:ext cx="6220916" cy="4817675"/>
          </a:xfrm>
          <a:prstGeom prst="rect">
            <a:avLst/>
          </a:prstGeom>
        </p:spPr>
      </p:pic>
    </p:spTree>
    <p:extLst>
      <p:ext uri="{BB962C8B-B14F-4D97-AF65-F5344CB8AC3E}">
        <p14:creationId xmlns:p14="http://schemas.microsoft.com/office/powerpoint/2010/main" val="1852416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D08E-B77A-32C4-1049-5D128F4E1424}"/>
              </a:ext>
            </a:extLst>
          </p:cNvPr>
          <p:cNvSpPr>
            <a:spLocks noGrp="1"/>
          </p:cNvSpPr>
          <p:nvPr>
            <p:ph type="title"/>
          </p:nvPr>
        </p:nvSpPr>
        <p:spPr/>
        <p:txBody>
          <a:bodyPr>
            <a:normAutofit/>
          </a:bodyPr>
          <a:lstStyle/>
          <a:p>
            <a:r>
              <a:rPr lang="en-IN" dirty="0"/>
              <a:t>Design/Implementation </a:t>
            </a:r>
          </a:p>
        </p:txBody>
      </p:sp>
      <p:pic>
        <p:nvPicPr>
          <p:cNvPr id="7" name="Content Placeholder 6" descr="The image shows a black external hard drive connected to a white Apple USB drive, placed on a patterned, red-and-white checkered blanket.">
            <a:extLst>
              <a:ext uri="{FF2B5EF4-FFF2-40B4-BE49-F238E27FC236}">
                <a16:creationId xmlns:a16="http://schemas.microsoft.com/office/drawing/2014/main" id="{C3546303-8F8E-8BF0-C57A-6F78F6BF7A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0744" y="1600199"/>
            <a:ext cx="4001492" cy="4277073"/>
          </a:xfrm>
          <a:prstGeom prst="rect">
            <a:avLst/>
          </a:prstGeom>
        </p:spPr>
      </p:pic>
      <p:sp>
        <p:nvSpPr>
          <p:cNvPr id="4" name="Footer Placeholder 3">
            <a:extLst>
              <a:ext uri="{FF2B5EF4-FFF2-40B4-BE49-F238E27FC236}">
                <a16:creationId xmlns:a16="http://schemas.microsoft.com/office/drawing/2014/main" id="{580A91E4-E55E-9F18-DF7D-6ABCAE768A49}"/>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7FB7680D-301E-C1C4-8154-21052FBFE271}"/>
              </a:ext>
            </a:extLst>
          </p:cNvPr>
          <p:cNvSpPr>
            <a:spLocks noGrp="1"/>
          </p:cNvSpPr>
          <p:nvPr>
            <p:ph type="sldNum" sz="quarter" idx="12"/>
          </p:nvPr>
        </p:nvSpPr>
        <p:spPr/>
        <p:txBody>
          <a:bodyPr/>
          <a:lstStyle/>
          <a:p>
            <a:fld id="{8E4F4909-AB91-4702-BFA2-E3C21A7DF79A}" type="slidenum">
              <a:rPr lang="en-US" smtClean="0"/>
              <a:t>11</a:t>
            </a:fld>
            <a:endParaRPr lang="en-US"/>
          </a:p>
        </p:txBody>
      </p:sp>
    </p:spTree>
    <p:extLst>
      <p:ext uri="{BB962C8B-B14F-4D97-AF65-F5344CB8AC3E}">
        <p14:creationId xmlns:p14="http://schemas.microsoft.com/office/powerpoint/2010/main" val="3326512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EECFC-0F45-9537-BE8E-B8C961CD80E1}"/>
              </a:ext>
            </a:extLst>
          </p:cNvPr>
          <p:cNvSpPr>
            <a:spLocks noGrp="1"/>
          </p:cNvSpPr>
          <p:nvPr>
            <p:ph type="title"/>
          </p:nvPr>
        </p:nvSpPr>
        <p:spPr/>
        <p:txBody>
          <a:bodyPr>
            <a:normAutofit/>
          </a:bodyPr>
          <a:lstStyle/>
          <a:p>
            <a:r>
              <a:rPr lang="en-IN" dirty="0"/>
              <a:t>Design/Implementation </a:t>
            </a:r>
          </a:p>
        </p:txBody>
      </p:sp>
      <p:sp>
        <p:nvSpPr>
          <p:cNvPr id="4" name="Footer Placeholder 3">
            <a:extLst>
              <a:ext uri="{FF2B5EF4-FFF2-40B4-BE49-F238E27FC236}">
                <a16:creationId xmlns:a16="http://schemas.microsoft.com/office/drawing/2014/main" id="{0D140E8B-C9C5-1BBB-83CC-505249F7C36C}"/>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73BF085C-6665-BD77-DBCD-04903E8CDC41}"/>
              </a:ext>
            </a:extLst>
          </p:cNvPr>
          <p:cNvSpPr>
            <a:spLocks noGrp="1"/>
          </p:cNvSpPr>
          <p:nvPr>
            <p:ph type="sldNum" sz="quarter" idx="12"/>
          </p:nvPr>
        </p:nvSpPr>
        <p:spPr/>
        <p:txBody>
          <a:bodyPr/>
          <a:lstStyle/>
          <a:p>
            <a:fld id="{8E4F4909-AB91-4702-BFA2-E3C21A7DF79A}" type="slidenum">
              <a:rPr lang="en-US" smtClean="0"/>
              <a:t>12</a:t>
            </a:fld>
            <a:endParaRPr lang="en-US"/>
          </a:p>
        </p:txBody>
      </p:sp>
      <p:pic>
        <p:nvPicPr>
          <p:cNvPr id="9" name="Content Placeholder 8">
            <a:extLst>
              <a:ext uri="{FF2B5EF4-FFF2-40B4-BE49-F238E27FC236}">
                <a16:creationId xmlns:a16="http://schemas.microsoft.com/office/drawing/2014/main" id="{5053DC1B-5F40-4C86-3BF8-D3BE4FF248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821341" y="1600201"/>
            <a:ext cx="7494059" cy="4133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149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D7E1-2AE9-4EEB-DC06-AD3A2F64F668}"/>
              </a:ext>
            </a:extLst>
          </p:cNvPr>
          <p:cNvSpPr>
            <a:spLocks noGrp="1"/>
          </p:cNvSpPr>
          <p:nvPr>
            <p:ph type="title"/>
          </p:nvPr>
        </p:nvSpPr>
        <p:spPr/>
        <p:txBody>
          <a:bodyPr>
            <a:normAutofit fontScale="90000"/>
          </a:bodyPr>
          <a:lstStyle/>
          <a:p>
            <a:br>
              <a:rPr lang="en-IN" dirty="0"/>
            </a:br>
            <a:r>
              <a:rPr lang="en-IN" dirty="0"/>
              <a:t>Results and Discussion</a:t>
            </a:r>
            <a:br>
              <a:rPr lang="en-IN" dirty="0"/>
            </a:br>
            <a:endParaRPr lang="en-IN" dirty="0"/>
          </a:p>
        </p:txBody>
      </p:sp>
      <p:sp>
        <p:nvSpPr>
          <p:cNvPr id="4" name="Footer Placeholder 3">
            <a:extLst>
              <a:ext uri="{FF2B5EF4-FFF2-40B4-BE49-F238E27FC236}">
                <a16:creationId xmlns:a16="http://schemas.microsoft.com/office/drawing/2014/main" id="{40A17D36-56EC-2A33-E789-B4FA875F78B6}"/>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0A76CFC0-2CDC-40BD-5686-2C91817CA551}"/>
              </a:ext>
            </a:extLst>
          </p:cNvPr>
          <p:cNvSpPr>
            <a:spLocks noGrp="1"/>
          </p:cNvSpPr>
          <p:nvPr>
            <p:ph type="sldNum" sz="quarter" idx="12"/>
          </p:nvPr>
        </p:nvSpPr>
        <p:spPr/>
        <p:txBody>
          <a:bodyPr/>
          <a:lstStyle/>
          <a:p>
            <a:fld id="{8E4F4909-AB91-4702-BFA2-E3C21A7DF79A}" type="slidenum">
              <a:rPr lang="en-US" smtClean="0"/>
              <a:t>13</a:t>
            </a:fld>
            <a:endParaRPr lang="en-US"/>
          </a:p>
        </p:txBody>
      </p:sp>
      <p:pic>
        <p:nvPicPr>
          <p:cNvPr id="9" name="Content Placeholder 8">
            <a:extLst>
              <a:ext uri="{FF2B5EF4-FFF2-40B4-BE49-F238E27FC236}">
                <a16:creationId xmlns:a16="http://schemas.microsoft.com/office/drawing/2014/main" id="{65EFDBCE-ACDD-A10B-4BAF-1DAC8A6E037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17764" y="1600201"/>
            <a:ext cx="3394472" cy="4205064"/>
          </a:xfrm>
        </p:spPr>
      </p:pic>
    </p:spTree>
    <p:extLst>
      <p:ext uri="{BB962C8B-B14F-4D97-AF65-F5344CB8AC3E}">
        <p14:creationId xmlns:p14="http://schemas.microsoft.com/office/powerpoint/2010/main" val="1583017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756F-8AE3-1A88-99E6-B8C2ECCD80E6}"/>
              </a:ext>
            </a:extLst>
          </p:cNvPr>
          <p:cNvSpPr>
            <a:spLocks noGrp="1"/>
          </p:cNvSpPr>
          <p:nvPr>
            <p:ph type="title"/>
          </p:nvPr>
        </p:nvSpPr>
        <p:spPr/>
        <p:txBody>
          <a:bodyPr/>
          <a:lstStyle/>
          <a:p>
            <a:r>
              <a:rPr lang="en-IN" dirty="0"/>
              <a:t>Results and Discussion </a:t>
            </a:r>
          </a:p>
        </p:txBody>
      </p:sp>
      <p:sp>
        <p:nvSpPr>
          <p:cNvPr id="4" name="Footer Placeholder 3">
            <a:extLst>
              <a:ext uri="{FF2B5EF4-FFF2-40B4-BE49-F238E27FC236}">
                <a16:creationId xmlns:a16="http://schemas.microsoft.com/office/drawing/2014/main" id="{BB8BE138-C735-2BDC-9863-AEB99EE0BFD2}"/>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F568CEFE-EA93-DDA7-5E13-A43B6A51DC7F}"/>
              </a:ext>
            </a:extLst>
          </p:cNvPr>
          <p:cNvSpPr>
            <a:spLocks noGrp="1"/>
          </p:cNvSpPr>
          <p:nvPr>
            <p:ph type="sldNum" sz="quarter" idx="12"/>
          </p:nvPr>
        </p:nvSpPr>
        <p:spPr/>
        <p:txBody>
          <a:bodyPr/>
          <a:lstStyle/>
          <a:p>
            <a:fld id="{8E4F4909-AB91-4702-BFA2-E3C21A7DF79A}" type="slidenum">
              <a:rPr lang="en-US" smtClean="0"/>
              <a:t>14</a:t>
            </a:fld>
            <a:endParaRPr lang="en-US"/>
          </a:p>
        </p:txBody>
      </p:sp>
      <p:pic>
        <p:nvPicPr>
          <p:cNvPr id="8" name="Content Placeholder 7">
            <a:extLst>
              <a:ext uri="{FF2B5EF4-FFF2-40B4-BE49-F238E27FC236}">
                <a16:creationId xmlns:a16="http://schemas.microsoft.com/office/drawing/2014/main" id="{75CE9FCE-FFD9-7ABB-20BA-52073A69D4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6728" y="1600200"/>
            <a:ext cx="4608512" cy="4525963"/>
          </a:xfrm>
        </p:spPr>
      </p:pic>
    </p:spTree>
    <p:extLst>
      <p:ext uri="{BB962C8B-B14F-4D97-AF65-F5344CB8AC3E}">
        <p14:creationId xmlns:p14="http://schemas.microsoft.com/office/powerpoint/2010/main" val="2793818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B98A-A6C8-1B27-2349-01FAF151FFD8}"/>
              </a:ext>
            </a:extLst>
          </p:cNvPr>
          <p:cNvSpPr>
            <a:spLocks noGrp="1"/>
          </p:cNvSpPr>
          <p:nvPr>
            <p:ph type="title"/>
          </p:nvPr>
        </p:nvSpPr>
        <p:spPr/>
        <p:txBody>
          <a:bodyPr/>
          <a:lstStyle/>
          <a:p>
            <a:r>
              <a:rPr lang="en-IN" dirty="0"/>
              <a:t>Results and Discussion </a:t>
            </a:r>
          </a:p>
        </p:txBody>
      </p:sp>
      <p:sp>
        <p:nvSpPr>
          <p:cNvPr id="4" name="Footer Placeholder 3">
            <a:extLst>
              <a:ext uri="{FF2B5EF4-FFF2-40B4-BE49-F238E27FC236}">
                <a16:creationId xmlns:a16="http://schemas.microsoft.com/office/drawing/2014/main" id="{86A33B6B-14BB-5901-6518-5BF4DBB842D2}"/>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6790B796-FD3E-7CE6-005D-0C2DF87C9302}"/>
              </a:ext>
            </a:extLst>
          </p:cNvPr>
          <p:cNvSpPr>
            <a:spLocks noGrp="1"/>
          </p:cNvSpPr>
          <p:nvPr>
            <p:ph type="sldNum" sz="quarter" idx="12"/>
          </p:nvPr>
        </p:nvSpPr>
        <p:spPr/>
        <p:txBody>
          <a:bodyPr/>
          <a:lstStyle/>
          <a:p>
            <a:fld id="{8E4F4909-AB91-4702-BFA2-E3C21A7DF79A}" type="slidenum">
              <a:rPr lang="en-US" smtClean="0"/>
              <a:t>15</a:t>
            </a:fld>
            <a:endParaRPr lang="en-US"/>
          </a:p>
        </p:txBody>
      </p:sp>
      <p:pic>
        <p:nvPicPr>
          <p:cNvPr id="12" name="Content Placeholder 11">
            <a:extLst>
              <a:ext uri="{FF2B5EF4-FFF2-40B4-BE49-F238E27FC236}">
                <a16:creationId xmlns:a16="http://schemas.microsoft.com/office/drawing/2014/main" id="{87CB2FE1-BA57-7068-B598-25EDCC25E0B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78496" y="1311398"/>
            <a:ext cx="8559582" cy="4814765"/>
          </a:xfrm>
          <a:prstGeom prst="rect">
            <a:avLst/>
          </a:prstGeom>
        </p:spPr>
      </p:pic>
    </p:spTree>
    <p:extLst>
      <p:ext uri="{BB962C8B-B14F-4D97-AF65-F5344CB8AC3E}">
        <p14:creationId xmlns:p14="http://schemas.microsoft.com/office/powerpoint/2010/main" val="4008492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B5D07-EFBB-019B-0D80-3264CC3DA38B}"/>
              </a:ext>
            </a:extLst>
          </p:cNvPr>
          <p:cNvSpPr>
            <a:spLocks noGrp="1"/>
          </p:cNvSpPr>
          <p:nvPr>
            <p:ph type="title"/>
          </p:nvPr>
        </p:nvSpPr>
        <p:spPr/>
        <p:txBody>
          <a:bodyPr>
            <a:normAutofit fontScale="90000"/>
          </a:bodyPr>
          <a:lstStyle/>
          <a:p>
            <a:r>
              <a:rPr lang="en-US" dirty="0"/>
              <a:t>Conclusion with justification for SDG alignment</a:t>
            </a:r>
            <a:endParaRPr lang="en-IN" dirty="0"/>
          </a:p>
        </p:txBody>
      </p:sp>
      <p:sp>
        <p:nvSpPr>
          <p:cNvPr id="3" name="Content Placeholder 2">
            <a:extLst>
              <a:ext uri="{FF2B5EF4-FFF2-40B4-BE49-F238E27FC236}">
                <a16:creationId xmlns:a16="http://schemas.microsoft.com/office/drawing/2014/main" id="{AF7F31F2-026E-4A72-DB92-A9EBB293CFBE}"/>
              </a:ext>
            </a:extLst>
          </p:cNvPr>
          <p:cNvSpPr>
            <a:spLocks noGrp="1"/>
          </p:cNvSpPr>
          <p:nvPr>
            <p:ph idx="1"/>
          </p:nvPr>
        </p:nvSpPr>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The proposed Smart Intrusion Disclosure Entity (SIDE) system introduces an innovative approach for real-time border surveillance in highly sensitive regions such as the Line of Control (LoC). By integrating the YOLO-based object detection algorithm with graph theory techniques, the system enhances the efficiency, accuracy, and reliability of intrusion detection compared to traditional surveillance methods. This intelligent and automated framework supports </a:t>
            </a:r>
            <a:r>
              <a:rPr lang="en-US" b="1" dirty="0">
                <a:latin typeface="Times New Roman" panose="02020603050405020304" pitchFamily="18" charset="0"/>
                <a:cs typeface="Times New Roman" panose="02020603050405020304" pitchFamily="18" charset="0"/>
              </a:rPr>
              <a:t>Sustainable Development Goal 16: Peace, Justice, and Strong Institutions</a:t>
            </a:r>
            <a:r>
              <a:rPr lang="en-US" dirty="0">
                <a:latin typeface="Times New Roman" panose="02020603050405020304" pitchFamily="18" charset="0"/>
                <a:cs typeface="Times New Roman" panose="02020603050405020304" pitchFamily="18" charset="0"/>
              </a:rPr>
              <a:t> by strengthening border security infrastructure, enabling faster threat detection, and improving institutional response mechanisms. Ultimately, the system contributes to reducing security vulnerabilities and promoting safer, more stable, and well-monitored border environments through advanced AI-driven surveillance technologies.</a:t>
            </a:r>
          </a:p>
          <a:p>
            <a:endParaRPr lang="en-IN" dirty="0"/>
          </a:p>
        </p:txBody>
      </p:sp>
      <p:sp>
        <p:nvSpPr>
          <p:cNvPr id="4" name="Footer Placeholder 3">
            <a:extLst>
              <a:ext uri="{FF2B5EF4-FFF2-40B4-BE49-F238E27FC236}">
                <a16:creationId xmlns:a16="http://schemas.microsoft.com/office/drawing/2014/main" id="{71DCDAE1-B52E-D60E-1A2C-D54B75505BEE}"/>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6893FE83-999A-D29E-8466-0EDFA076E28C}"/>
              </a:ext>
            </a:extLst>
          </p:cNvPr>
          <p:cNvSpPr>
            <a:spLocks noGrp="1"/>
          </p:cNvSpPr>
          <p:nvPr>
            <p:ph type="sldNum" sz="quarter" idx="12"/>
          </p:nvPr>
        </p:nvSpPr>
        <p:spPr/>
        <p:txBody>
          <a:bodyPr/>
          <a:lstStyle/>
          <a:p>
            <a:fld id="{8E4F4909-AB91-4702-BFA2-E3C21A7DF79A}" type="slidenum">
              <a:rPr lang="en-US" smtClean="0"/>
              <a:t>16</a:t>
            </a:fld>
            <a:endParaRPr lang="en-US"/>
          </a:p>
        </p:txBody>
      </p:sp>
    </p:spTree>
    <p:extLst>
      <p:ext uri="{BB962C8B-B14F-4D97-AF65-F5344CB8AC3E}">
        <p14:creationId xmlns:p14="http://schemas.microsoft.com/office/powerpoint/2010/main" val="3445824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FA6D4-6214-C24F-4371-B22A3A4ACCC3}"/>
              </a:ext>
            </a:extLst>
          </p:cNvPr>
          <p:cNvSpPr>
            <a:spLocks noGrp="1"/>
          </p:cNvSpPr>
          <p:nvPr>
            <p:ph type="title"/>
          </p:nvPr>
        </p:nvSpPr>
        <p:spPr/>
        <p:txBody>
          <a:bodyPr/>
          <a:lstStyle/>
          <a:p>
            <a:r>
              <a:rPr lang="en-IN" dirty="0">
                <a:latin typeface="Times New Roman" pitchFamily="18" charset="0"/>
                <a:cs typeface="Times New Roman" pitchFamily="18" charset="0"/>
              </a:rPr>
              <a:t>References</a:t>
            </a:r>
          </a:p>
        </p:txBody>
      </p:sp>
      <p:sp>
        <p:nvSpPr>
          <p:cNvPr id="3" name="Content Placeholder 2">
            <a:extLst>
              <a:ext uri="{FF2B5EF4-FFF2-40B4-BE49-F238E27FC236}">
                <a16:creationId xmlns:a16="http://schemas.microsoft.com/office/drawing/2014/main" id="{C3041AF0-A101-B2F7-A3CE-5D0C8E3BDA34}"/>
              </a:ext>
            </a:extLst>
          </p:cNvPr>
          <p:cNvSpPr>
            <a:spLocks noGrp="1"/>
          </p:cNvSpPr>
          <p:nvPr>
            <p:ph idx="1"/>
          </p:nvPr>
        </p:nvSpPr>
        <p:spPr/>
        <p:txBody>
          <a:bodyPr>
            <a:normAutofit/>
          </a:bodyPr>
          <a:lstStyle/>
          <a:p>
            <a:pPr marL="457200" indent="-457200">
              <a:buAutoNum type="arabicParenR"/>
            </a:pPr>
            <a:r>
              <a:rPr lang="en-IN" sz="2000" dirty="0">
                <a:latin typeface="Times New Roman" panose="02020603050405020304" pitchFamily="18" charset="0"/>
                <a:cs typeface="Times New Roman" panose="02020603050405020304" pitchFamily="18" charset="0"/>
              </a:rPr>
              <a:t>Bedi, G., </a:t>
            </a:r>
            <a:r>
              <a:rPr lang="en-IN" sz="2000" dirty="0" err="1">
                <a:latin typeface="Times New Roman" panose="02020603050405020304" pitchFamily="18" charset="0"/>
                <a:cs typeface="Times New Roman" panose="02020603050405020304" pitchFamily="18" charset="0"/>
              </a:rPr>
              <a:t>Venayagamoorthy</a:t>
            </a:r>
            <a:r>
              <a:rPr lang="en-IN" sz="2000" dirty="0">
                <a:latin typeface="Times New Roman" panose="02020603050405020304" pitchFamily="18" charset="0"/>
                <a:cs typeface="Times New Roman" panose="02020603050405020304" pitchFamily="18" charset="0"/>
              </a:rPr>
              <a:t>, G.K., Singh, R., Brooks, R.R. and Wang, K.C., “Review of internet of things (IoT) in electric power and energy systems”, IEEE Internet of Things Journal,5(2), pp.847-870, 2018. [2] He, J., </a:t>
            </a:r>
          </a:p>
          <a:p>
            <a:pPr marL="457200" indent="-457200">
              <a:buAutoNum type="arabicParenR"/>
            </a:pPr>
            <a:r>
              <a:rPr lang="en-IN" sz="2000" dirty="0">
                <a:latin typeface="Times New Roman" panose="02020603050405020304" pitchFamily="18" charset="0"/>
                <a:cs typeface="Times New Roman" panose="02020603050405020304" pitchFamily="18" charset="0"/>
              </a:rPr>
              <a:t>Wei, J., Chen, K., Tang, Z., Zhou, Y. and Zhang, Y., “Multitier fog computing with large-scale </a:t>
            </a:r>
            <a:r>
              <a:rPr lang="en-IN" sz="2000" dirty="0" err="1">
                <a:latin typeface="Times New Roman" panose="02020603050405020304" pitchFamily="18" charset="0"/>
                <a:cs typeface="Times New Roman" panose="02020603050405020304" pitchFamily="18" charset="0"/>
              </a:rPr>
              <a:t>iot</a:t>
            </a:r>
            <a:r>
              <a:rPr lang="en-IN" sz="2000" dirty="0">
                <a:latin typeface="Times New Roman" panose="02020603050405020304" pitchFamily="18" charset="0"/>
                <a:cs typeface="Times New Roman" panose="02020603050405020304" pitchFamily="18" charset="0"/>
              </a:rPr>
              <a:t> data analytics for smart cities”. IEEE Internet of Things Journal, 5(2), pp.677-686, 2017. [3] Ngu, A.H., Gutierrez, </a:t>
            </a:r>
          </a:p>
          <a:p>
            <a:pPr marL="457200" indent="-457200">
              <a:buAutoNum type="arabicParenR"/>
            </a:pPr>
            <a:r>
              <a:rPr lang="en-IN" sz="2000" dirty="0">
                <a:latin typeface="Times New Roman" panose="02020603050405020304" pitchFamily="18" charset="0"/>
                <a:cs typeface="Times New Roman" panose="02020603050405020304" pitchFamily="18" charset="0"/>
              </a:rPr>
              <a:t>M., </a:t>
            </a:r>
            <a:r>
              <a:rPr lang="en-IN" sz="2000" dirty="0" err="1">
                <a:latin typeface="Times New Roman" panose="02020603050405020304" pitchFamily="18" charset="0"/>
                <a:cs typeface="Times New Roman" panose="02020603050405020304" pitchFamily="18" charset="0"/>
              </a:rPr>
              <a:t>Metsis</a:t>
            </a:r>
            <a:r>
              <a:rPr lang="en-IN" sz="2000" dirty="0">
                <a:latin typeface="Times New Roman" panose="02020603050405020304" pitchFamily="18" charset="0"/>
                <a:cs typeface="Times New Roman" panose="02020603050405020304" pitchFamily="18" charset="0"/>
              </a:rPr>
              <a:t>, V., Nepal, S. and Sheng, Q.Z., “IoT middleware: A survey on issues and enabling technologies”. IEEE Internet of Things Journal, 4(1), pp.1-20, 2016. [4] Shekhar, Y., Dagur,</a:t>
            </a:r>
          </a:p>
          <a:p>
            <a:pPr marL="457200" indent="-457200">
              <a:buAutoNum type="arabicParenR"/>
            </a:pPr>
            <a:r>
              <a:rPr lang="en-IN" sz="2000" dirty="0">
                <a:latin typeface="Times New Roman" panose="02020603050405020304" pitchFamily="18" charset="0"/>
                <a:cs typeface="Times New Roman" panose="02020603050405020304" pitchFamily="18" charset="0"/>
              </a:rPr>
              <a:t> E., Mishra, S. and Sankaranarayanan, S., “Intelligent IoT based automated irrigation system”. International Journal of Applied Engineering Research, 12(18), pp.7306-7320, 2017 </a:t>
            </a:r>
          </a:p>
          <a:p>
            <a:pPr marL="457200" indent="-457200">
              <a:buAutoNum type="arabicParenR"/>
            </a:pPr>
            <a:r>
              <a:rPr lang="en-IN" sz="2000" dirty="0">
                <a:latin typeface="Times New Roman" panose="02020603050405020304" pitchFamily="18" charset="0"/>
                <a:cs typeface="Times New Roman" panose="02020603050405020304" pitchFamily="18" charset="0"/>
              </a:rPr>
              <a:t> P.K. and Babu, </a:t>
            </a:r>
            <a:r>
              <a:rPr lang="en-IN" sz="2000" dirty="0" err="1">
                <a:latin typeface="Times New Roman" panose="02020603050405020304" pitchFamily="18" charset="0"/>
                <a:cs typeface="Times New Roman" panose="02020603050405020304" pitchFamily="18" charset="0"/>
              </a:rPr>
              <a:t>R.,“An</a:t>
            </a:r>
            <a:r>
              <a:rPr lang="en-IN" sz="2000" dirty="0">
                <a:latin typeface="Times New Roman" panose="02020603050405020304" pitchFamily="18" charset="0"/>
                <a:cs typeface="Times New Roman" panose="02020603050405020304" pitchFamily="18" charset="0"/>
              </a:rPr>
              <a:t> evolutionary secure energy efficient routing protocol in internet of things”. International Journal of Intelligent Engineering and Systems, 10(3), pp.337-346, 2017</a:t>
            </a:r>
            <a:r>
              <a:rPr lang="en-IN" sz="2000" dirty="0"/>
              <a:t>.</a:t>
            </a:r>
            <a:endParaRPr lang="en-US" sz="2000" dirty="0">
              <a:latin typeface="Times New Roman" pitchFamily="18" charset="0"/>
              <a:cs typeface="Times New Roman" pitchFamily="18" charset="0"/>
            </a:endParaRPr>
          </a:p>
          <a:p>
            <a:pPr>
              <a:buNone/>
            </a:pPr>
            <a:endParaRPr lang="en-IN" sz="2000" dirty="0">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C873BFCB-D6B9-6153-842A-AE1907658862}"/>
              </a:ext>
            </a:extLst>
          </p:cNvPr>
          <p:cNvSpPr>
            <a:spLocks noGrp="1"/>
          </p:cNvSpPr>
          <p:nvPr>
            <p:ph type="ftr" sz="quarter" idx="11"/>
          </p:nvPr>
        </p:nvSpPr>
        <p:spPr/>
        <p:txBody>
          <a:bodyPr/>
          <a:lstStyle/>
          <a:p>
            <a:r>
              <a:rPr lang="en-US"/>
              <a:t>Vel Tech Rangarajan Dr. Sagunthala R&amp;D Institute of Science and Technology</a:t>
            </a:r>
            <a:endParaRPr lang="en-US" dirty="0"/>
          </a:p>
        </p:txBody>
      </p:sp>
      <p:sp>
        <p:nvSpPr>
          <p:cNvPr id="5" name="Slide Number Placeholder 4">
            <a:extLst>
              <a:ext uri="{FF2B5EF4-FFF2-40B4-BE49-F238E27FC236}">
                <a16:creationId xmlns:a16="http://schemas.microsoft.com/office/drawing/2014/main" id="{25BFA9C8-5CA5-8AA3-929B-1F3E14464E9F}"/>
              </a:ext>
            </a:extLst>
          </p:cNvPr>
          <p:cNvSpPr>
            <a:spLocks noGrp="1"/>
          </p:cNvSpPr>
          <p:nvPr>
            <p:ph type="sldNum" sz="quarter" idx="12"/>
          </p:nvPr>
        </p:nvSpPr>
        <p:spPr/>
        <p:txBody>
          <a:bodyPr/>
          <a:lstStyle/>
          <a:p>
            <a:fld id="{8E4F4909-AB91-4702-BFA2-E3C21A7DF79A}" type="slidenum">
              <a:rPr lang="en-US" smtClean="0"/>
              <a:pPr/>
              <a:t>17</a:t>
            </a:fld>
            <a:endParaRPr lang="en-US"/>
          </a:p>
        </p:txBody>
      </p:sp>
    </p:spTree>
    <p:extLst>
      <p:ext uri="{BB962C8B-B14F-4D97-AF65-F5344CB8AC3E}">
        <p14:creationId xmlns:p14="http://schemas.microsoft.com/office/powerpoint/2010/main" val="1385545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E4F4909-AB91-4702-BFA2-E3C21A7DF79A}" type="slidenum">
              <a:rPr lang="en-US" smtClean="0"/>
              <a:t>18</a:t>
            </a:fld>
            <a:endParaRPr lang="en-US"/>
          </a:p>
        </p:txBody>
      </p:sp>
      <p:sp>
        <p:nvSpPr>
          <p:cNvPr id="6" name="Footer Placeholder 5"/>
          <p:cNvSpPr>
            <a:spLocks noGrp="1"/>
          </p:cNvSpPr>
          <p:nvPr>
            <p:ph type="ftr" sz="quarter" idx="11"/>
          </p:nvPr>
        </p:nvSpPr>
        <p:spPr/>
        <p:txBody>
          <a:bodyPr/>
          <a:lstStyle/>
          <a:p>
            <a:r>
              <a:rPr lang="en-US"/>
              <a:t>Vel Tech Rangarajan Dr. Sagunthala R&amp;D Institute of Science and Technology</a:t>
            </a:r>
            <a:endParaRPr lang="en-US" dirty="0"/>
          </a:p>
        </p:txBody>
      </p:sp>
      <p:pic>
        <p:nvPicPr>
          <p:cNvPr id="1026" name="Picture 2" descr="Happy National Thank You Day! - Inventionl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0664" y="2564904"/>
            <a:ext cx="5171728" cy="22626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1356</Words>
  <Application>Microsoft Office PowerPoint</Application>
  <PresentationFormat>Custom</PresentationFormat>
  <Paragraphs>124</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Century Gothic</vt:lpstr>
      <vt:lpstr>Times New Roman</vt:lpstr>
      <vt:lpstr>Office Theme</vt:lpstr>
      <vt:lpstr>PowerPoint Presentation</vt:lpstr>
      <vt:lpstr>Content</vt:lpstr>
      <vt:lpstr>  Abstract with SDG  </vt:lpstr>
      <vt:lpstr>Introduction and motivation </vt:lpstr>
      <vt:lpstr>.</vt:lpstr>
      <vt:lpstr> Literature survey </vt:lpstr>
      <vt:lpstr>OBJECTIVE</vt:lpstr>
      <vt:lpstr> Proposed Methodology </vt:lpstr>
      <vt:lpstr>Block Diagram</vt:lpstr>
      <vt:lpstr> Design/Implementation  </vt:lpstr>
      <vt:lpstr>Design/Implementation </vt:lpstr>
      <vt:lpstr>Design/Implementation </vt:lpstr>
      <vt:lpstr> Results and Discussion </vt:lpstr>
      <vt:lpstr>Results and Discussion </vt:lpstr>
      <vt:lpstr>Results and Discussion </vt:lpstr>
      <vt:lpstr>Conclusion with justification for SDG alignment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vc7775b7iqac</dc:creator>
  <cp:lastModifiedBy>DEVARAJ NENAVATH</cp:lastModifiedBy>
  <cp:revision>276</cp:revision>
  <dcterms:created xsi:type="dcterms:W3CDTF">2021-07-29T08:50:00Z</dcterms:created>
  <dcterms:modified xsi:type="dcterms:W3CDTF">2026-05-07T09:55:11Z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8A335ABE561F470BB54E8703EAAB4432_12</vt:lpwstr>
  </property>
  <property fmtid="{D5CDD505-2E9C-101B-9397-08002B2CF9AE}" pid="3" name="KSOProductBuildVer">
    <vt:lpwstr>1033-12.2.0.16909</vt:lpwstr>
  </property>
</Properties>
</file>